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27178000" cy="16891000"/>
  <p:notesSz cx="6858000" cy="9144000"/>
  <p:embeddedFontLst>
    <p:embeddedFont>
      <p:font typeface="Pretendard Regular"/>
      <p:regular r:id="rId24"/>
    </p:embeddedFont>
    <p:embeddedFont>
      <p:font typeface="Pretendard Black"/>
      <p:bold r:id="rId25"/>
    </p:embeddedFont>
    <p:embeddedFont>
      <p:font typeface="Pretendard 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1.fntdata" Type="http://schemas.openxmlformats.org/officeDocument/2006/relationships/font"/><Relationship Id="rId25" Target="fonts/font2.fntdata" Type="http://schemas.openxmlformats.org/officeDocument/2006/relationships/font"/><Relationship Id="rId26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2.png" Type="http://schemas.openxmlformats.org/officeDocument/2006/relationships/image"/><Relationship Id="rId20" Target="../media/image33.png" Type="http://schemas.openxmlformats.org/officeDocument/2006/relationships/image"/><Relationship Id="rId21" Target="../media/image34.png" Type="http://schemas.openxmlformats.org/officeDocument/2006/relationships/image"/><Relationship Id="rId22" Target="../media/image35.png" Type="http://schemas.openxmlformats.org/officeDocument/2006/relationships/image"/><Relationship Id="rId23" Target="../media/image36.png" Type="http://schemas.openxmlformats.org/officeDocument/2006/relationships/image"/><Relationship Id="rId24" Target="../media/image37.png" Type="http://schemas.openxmlformats.org/officeDocument/2006/relationships/image"/><Relationship Id="rId25" Target="../media/image38.png" Type="http://schemas.openxmlformats.org/officeDocument/2006/relationships/image"/><Relationship Id="rId26" Target="../media/image39.png" Type="http://schemas.openxmlformats.org/officeDocument/2006/relationships/image"/><Relationship Id="rId27" Target="../media/image40.png" Type="http://schemas.openxmlformats.org/officeDocument/2006/relationships/image"/><Relationship Id="rId28" Target="../media/image41.png" Type="http://schemas.openxmlformats.org/officeDocument/2006/relationships/image"/><Relationship Id="rId29" Target="../media/image42.png" Type="http://schemas.openxmlformats.org/officeDocument/2006/relationships/image"/><Relationship Id="rId3" Target="../media/image16.png" Type="http://schemas.openxmlformats.org/officeDocument/2006/relationships/image"/><Relationship Id="rId30" Target="../media/image43.png" Type="http://schemas.openxmlformats.org/officeDocument/2006/relationships/image"/><Relationship Id="rId31" Target="../media/image44.png" Type="http://schemas.openxmlformats.org/officeDocument/2006/relationships/image"/><Relationship Id="rId32" Target="../media/image45.png" Type="http://schemas.openxmlformats.org/officeDocument/2006/relationships/image"/><Relationship Id="rId33" Target="../media/image46.png" Type="http://schemas.openxmlformats.org/officeDocument/2006/relationships/image"/><Relationship Id="rId34" Target="../media/image47.png" Type="http://schemas.openxmlformats.org/officeDocument/2006/relationships/image"/><Relationship Id="rId35" Target="../media/image48.png" Type="http://schemas.openxmlformats.org/officeDocument/2006/relationships/image"/><Relationship Id="rId36" Target="../media/image49.png" Type="http://schemas.openxmlformats.org/officeDocument/2006/relationships/image"/><Relationship Id="rId37" Target="../media/image50.png" Type="http://schemas.openxmlformats.org/officeDocument/2006/relationships/image"/><Relationship Id="rId38" Target="../media/image5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2" Target="../media/image60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52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8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75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52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8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2" Target="../media/image91.png" Type="http://schemas.openxmlformats.org/officeDocument/2006/relationships/image"/><Relationship Id="rId3" Target="../media/image52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8.png" Type="http://schemas.openxmlformats.org/officeDocument/2006/relationships/image"/><Relationship Id="rId3" Target="../media/image52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52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png" Type="http://schemas.openxmlformats.org/officeDocument/2006/relationships/image"/><Relationship Id="rId12" Target="../media/image108.png" Type="http://schemas.openxmlformats.org/officeDocument/2006/relationships/image"/><Relationship Id="rId13" Target="../media/image109.png" Type="http://schemas.openxmlformats.org/officeDocument/2006/relationships/image"/><Relationship Id="rId14" Target="../media/image110.png" Type="http://schemas.openxmlformats.org/officeDocument/2006/relationships/image"/><Relationship Id="rId2" Target="../media/image103.png" Type="http://schemas.openxmlformats.org/officeDocument/2006/relationships/image"/><Relationship Id="rId3" Target="../media/image52.png" Type="http://schemas.openxmlformats.org/officeDocument/2006/relationships/image"/><Relationship Id="rId4" Target="../media/image104.png" Type="http://schemas.openxmlformats.org/officeDocument/2006/relationships/image"/><Relationship Id="rId5" Target="../media/image100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5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png" Type="http://schemas.openxmlformats.org/officeDocument/2006/relationships/image"/><Relationship Id="rId3" Target="../media/image52.png" Type="http://schemas.openxmlformats.org/officeDocument/2006/relationships/image"/><Relationship Id="rId4" Target="../media/image112.png" Type="http://schemas.openxmlformats.org/officeDocument/2006/relationships/image"/><Relationship Id="rId5" Target="../media/image100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5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3.png" Type="http://schemas.openxmlformats.org/officeDocument/2006/relationships/image"/><Relationship Id="rId3" Target="../media/image52.png" Type="http://schemas.openxmlformats.org/officeDocument/2006/relationships/image"/><Relationship Id="rId4" Target="../media/image99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6.png" Type="http://schemas.openxmlformats.org/officeDocument/2006/relationships/image"/><Relationship Id="rId3" Target="../media/image52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C2C2C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38100"/>
            <a:ext cx="27178000" cy="4152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247900" y="6489700"/>
            <a:ext cx="78740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2800" b="false" i="false" u="none" strike="noStrike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화면 설계서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3195300" y="927100"/>
            <a:ext cx="34785300" cy="438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666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과제명 : DBR 기사 시각화 및 성공/실패 사례  
              기반 인사이트 제공 서비스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15316200"/>
            <a:ext cx="35687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2026.06.12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5500" y="14389100"/>
            <a:ext cx="15227300" cy="184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518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팀명</a:t>
            </a:r>
            <a:r>
              <a:rPr lang="en-US" sz="51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: 동아줄 </a:t>
            </a:r>
          </a:p>
          <a:p>
            <a:pPr algn="r" lvl="0">
              <a:lnSpc>
                <a:spcPct val="116199"/>
              </a:lnSpc>
            </a:pPr>
            <a:r>
              <a:rPr lang="en-US" sz="518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팀원</a:t>
            </a:r>
            <a:r>
              <a:rPr lang="en-US" sz="518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: 박진엽 / 김재한 / 김지호 / 서현철 / 강동현 / 문병근 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46400" y="2921000"/>
            <a:ext cx="212979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946400" y="1066800"/>
            <a:ext cx="41529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71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변경이력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946400" y="3670300"/>
          <a:ext cx="21297900" cy="10007600"/>
        </p:xfrm>
        <a:graphic>
          <a:graphicData uri="http://schemas.openxmlformats.org/drawingml/2006/table">
            <a:tbl>
              <a:tblPr/>
              <a:tblGrid>
                <a:gridCol w="1612983"/>
                <a:gridCol w="2362200"/>
                <a:gridCol w="13506450"/>
                <a:gridCol w="1907540"/>
                <a:gridCol w="1906972"/>
              </a:tblGrid>
              <a:tr h="125108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916" b="false" i="false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버전</a:t>
                      </a:r>
                      <a:endParaRPr lang="en-US" sz="1100"/>
                    </a:p>
                  </a:txBody>
                  <a:tcPr anchor="ctr" marL="25400" marT="80024" marR="25400" marB="8002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916" b="false" i="false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작성일자</a:t>
                      </a:r>
                      <a:endParaRPr lang="en-US" sz="1100"/>
                    </a:p>
                  </a:txBody>
                  <a:tcPr anchor="ctr" marL="25400" marT="80024" marR="25400" marB="8002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916" b="false" i="false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수정사항</a:t>
                      </a:r>
                      <a:endParaRPr lang="en-US" sz="1100"/>
                    </a:p>
                  </a:txBody>
                  <a:tcPr anchor="ctr" marL="25400" marT="80024" marR="25400" marB="8002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916" b="false" i="false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작성자</a:t>
                      </a:r>
                      <a:endParaRPr lang="en-US" sz="1100"/>
                    </a:p>
                  </a:txBody>
                  <a:tcPr anchor="ctr" marL="25400" marT="80024" marR="25400" marB="8002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FFFFFF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검수자</a:t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21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0.1</a:t>
                      </a:r>
                      <a:endParaRPr lang="en-US" sz="1100"/>
                    </a:p>
                  </a:txBody>
                  <a:tcPr anchor="ctr" marL="25400" marT="76384" marR="25400" marB="7638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21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2026.06.12</a:t>
                      </a:r>
                      <a:endParaRPr lang="en-US" sz="1100"/>
                    </a:p>
                  </a:txBody>
                  <a:tcPr anchor="ctr" marL="25400" marT="76384" marR="25400" marB="7638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21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화면설계서 초안</a:t>
                      </a:r>
                      <a:endParaRPr lang="en-US" sz="1100"/>
                    </a:p>
                  </a:txBody>
                  <a:tcPr anchor="ctr" marL="25400" marT="76384" marR="25400" marB="7638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21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서현철,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김지호</a:t>
                      </a:r>
                    </a:p>
                  </a:txBody>
                  <a:tcPr anchor="ctr" marL="25400" marT="76384" marR="25400" marB="76384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12" b="false" i="false" u="none" strike="noStrike">
                          <a:solidFill>
                            <a:srgbClr val="787878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25400" marT="76218" marR="25400" marB="76218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108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46400" y="2921000"/>
            <a:ext cx="212979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946400" y="1066800"/>
            <a:ext cx="44196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71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메뉴 구성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4079200" y="177800"/>
            <a:ext cx="2921000" cy="825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4714200" y="342900"/>
            <a:ext cx="1663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32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프로젝트명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5257800"/>
            <a:ext cx="3556000" cy="101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17600" y="54737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진입 화면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079200" y="2120900"/>
            <a:ext cx="2921000" cy="825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4549100" y="2298700"/>
            <a:ext cx="1993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3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서브메뉴이름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079200" y="3098800"/>
            <a:ext cx="2921000" cy="1422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4384000" y="3327400"/>
            <a:ext cx="23114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3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서브메뉴 내 </a:t>
            </a:r>
          </a:p>
          <a:p>
            <a:pPr algn="ctr" lvl="0">
              <a:lnSpc>
                <a:spcPct val="116199"/>
              </a:lnSpc>
            </a:pPr>
            <a:r>
              <a:rPr lang="en-US" sz="273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메뉴이름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115300" y="3530600"/>
            <a:ext cx="3556000" cy="101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8623300" y="3746500"/>
            <a:ext cx="2527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동아줄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079200" y="1155700"/>
            <a:ext cx="2921000" cy="825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4549100" y="1320800"/>
            <a:ext cx="1993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32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메인메뉴이름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330700" y="5257800"/>
            <a:ext cx="3556000" cy="1016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4902200" y="54737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홈 화면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15300" y="5257800"/>
            <a:ext cx="3556000" cy="10160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8674100" y="54737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87200" y="5257800"/>
            <a:ext cx="3556000" cy="10160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2458700" y="54737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59100" y="5257800"/>
            <a:ext cx="3556000" cy="1016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6230600" y="54737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 맵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1400" y="4902200"/>
            <a:ext cx="15087600" cy="50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59000" y="5054600"/>
            <a:ext cx="355600" cy="50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7221200" y="5054600"/>
            <a:ext cx="355600" cy="50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9690100" y="4699000"/>
            <a:ext cx="355600" cy="50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5918200" y="5054600"/>
            <a:ext cx="355600" cy="50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9690100" y="5054600"/>
            <a:ext cx="355600" cy="50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3487400" y="5054600"/>
            <a:ext cx="355600" cy="50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512800" y="6426200"/>
            <a:ext cx="355600" cy="50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87200" y="6629400"/>
            <a:ext cx="3556000" cy="10160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2458700" y="68326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6629400"/>
            <a:ext cx="3556000" cy="10160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041400" y="68326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84400" y="6426200"/>
            <a:ext cx="355600" cy="508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7988300"/>
            <a:ext cx="3556000" cy="10160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041400" y="82042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84400" y="7785100"/>
            <a:ext cx="355600" cy="50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9359900"/>
            <a:ext cx="3556000" cy="10160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1041400" y="95631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소셜 로그인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2184400" y="9156700"/>
            <a:ext cx="355600" cy="50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512800" y="7785100"/>
            <a:ext cx="355600" cy="50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87200" y="7988300"/>
            <a:ext cx="3556000" cy="10160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2458700" y="8204200"/>
            <a:ext cx="2425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인사이트 탐색</a:t>
            </a: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512800" y="9169400"/>
            <a:ext cx="355600" cy="50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887200" y="9372600"/>
            <a:ext cx="3556000" cy="10160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12471400" y="9575800"/>
            <a:ext cx="24003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사례 상세 리포트</a:t>
            </a:r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3563600" y="10528300"/>
            <a:ext cx="355600" cy="508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938000" y="10731500"/>
            <a:ext cx="3556000" cy="10160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2382500" y="10947400"/>
            <a:ext cx="27178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전략내용 검색창</a:t>
            </a:r>
          </a:p>
        </p:txBody>
      </p:sp>
      <p:pic>
        <p:nvPicPr>
          <p:cNvPr name="Picture 52" id="5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938000" y="11912600"/>
            <a:ext cx="3556000" cy="20701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255500" y="12090400"/>
            <a:ext cx="2908300" cy="8255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725400" y="12255500"/>
            <a:ext cx="198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2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255500" y="12992100"/>
            <a:ext cx="2908300" cy="825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2725400" y="13157200"/>
            <a:ext cx="198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2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</a:t>
            </a:r>
          </a:p>
        </p:txBody>
      </p:sp>
      <p:pic>
        <p:nvPicPr>
          <p:cNvPr name="Picture 57" id="5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318000" y="6616700"/>
            <a:ext cx="3556000" cy="1016000"/>
          </a:xfrm>
          <a:prstGeom prst="rect">
            <a:avLst/>
          </a:prstGeom>
        </p:spPr>
      </p:pic>
      <p:sp>
        <p:nvSpPr>
          <p:cNvPr name="TextBox 58" id="58"/>
          <p:cNvSpPr txBox="true"/>
          <p:nvPr/>
        </p:nvSpPr>
        <p:spPr>
          <a:xfrm rot="0">
            <a:off x="4787900" y="68326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퀵 링크</a:t>
            </a:r>
          </a:p>
        </p:txBody>
      </p:sp>
      <p:pic>
        <p:nvPicPr>
          <p:cNvPr name="Picture 59" id="5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5930900" y="6413500"/>
            <a:ext cx="355600" cy="508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10744200"/>
            <a:ext cx="3556000" cy="1016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64500" y="6616700"/>
            <a:ext cx="3556000" cy="10160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8547100" y="68326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산업군 선택</a:t>
            </a:r>
          </a:p>
        </p:txBody>
      </p:sp>
      <p:pic>
        <p:nvPicPr>
          <p:cNvPr name="Picture 63" id="6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9690100" y="6413500"/>
            <a:ext cx="355600" cy="50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64500" y="7988300"/>
            <a:ext cx="3556000" cy="10160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8547100" y="81915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 유형 선택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9690100" y="7785100"/>
            <a:ext cx="355600" cy="508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09900" y="6629400"/>
            <a:ext cx="3556000" cy="1016000"/>
          </a:xfrm>
          <a:prstGeom prst="rect">
            <a:avLst/>
          </a:prstGeom>
        </p:spPr>
      </p:pic>
      <p:sp>
        <p:nvSpPr>
          <p:cNvPr name="TextBox 68" id="68"/>
          <p:cNvSpPr txBox="true"/>
          <p:nvPr/>
        </p:nvSpPr>
        <p:spPr>
          <a:xfrm rot="0">
            <a:off x="16192500" y="68453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요약 대시보드</a:t>
            </a:r>
          </a:p>
        </p:txBody>
      </p:sp>
      <p:pic>
        <p:nvPicPr>
          <p:cNvPr name="Picture 69" id="6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7335500" y="6426200"/>
            <a:ext cx="355600" cy="508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09900" y="8001000"/>
            <a:ext cx="3556000" cy="10160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16192500" y="82042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 지형도</a:t>
            </a:r>
          </a:p>
        </p:txBody>
      </p:sp>
      <p:pic>
        <p:nvPicPr>
          <p:cNvPr name="Picture 72" id="7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7335500" y="7797800"/>
            <a:ext cx="355600" cy="508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09900" y="9359900"/>
            <a:ext cx="3556000" cy="10160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17335500" y="10541000"/>
            <a:ext cx="355600" cy="508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17335500" y="9156700"/>
            <a:ext cx="355600" cy="508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760700" y="10744200"/>
            <a:ext cx="3556000" cy="1016000"/>
          </a:xfrm>
          <a:prstGeom prst="rect">
            <a:avLst/>
          </a:prstGeom>
        </p:spPr>
      </p:pic>
      <p:sp>
        <p:nvSpPr>
          <p:cNvPr name="TextBox 77" id="77"/>
          <p:cNvSpPr txBox="true"/>
          <p:nvPr/>
        </p:nvSpPr>
        <p:spPr>
          <a:xfrm rot="0">
            <a:off x="16230600" y="109474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??</a:t>
            </a:r>
          </a:p>
        </p:txBody>
      </p:sp>
      <p:pic>
        <p:nvPicPr>
          <p:cNvPr name="Picture 78" id="7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760700" y="11912600"/>
            <a:ext cx="3556000" cy="20701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12090400"/>
            <a:ext cx="2908300" cy="825500"/>
          </a:xfrm>
          <a:prstGeom prst="rect">
            <a:avLst/>
          </a:prstGeom>
        </p:spPr>
      </p:pic>
      <p:sp>
        <p:nvSpPr>
          <p:cNvPr name="TextBox 80" id="80"/>
          <p:cNvSpPr txBox="true"/>
          <p:nvPr/>
        </p:nvSpPr>
        <p:spPr>
          <a:xfrm rot="0">
            <a:off x="16548100" y="12255500"/>
            <a:ext cx="1981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</a:t>
            </a:r>
          </a:p>
        </p:txBody>
      </p:sp>
      <p:pic>
        <p:nvPicPr>
          <p:cNvPr name="Picture 81" id="8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12992100"/>
            <a:ext cx="2908300" cy="825500"/>
          </a:xfrm>
          <a:prstGeom prst="rect">
            <a:avLst/>
          </a:prstGeom>
        </p:spPr>
      </p:pic>
      <p:sp>
        <p:nvSpPr>
          <p:cNvPr name="TextBox 82" id="82"/>
          <p:cNvSpPr txBox="true"/>
          <p:nvPr/>
        </p:nvSpPr>
        <p:spPr>
          <a:xfrm rot="0">
            <a:off x="16548100" y="13157200"/>
            <a:ext cx="19812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2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?</a:t>
            </a:r>
          </a:p>
        </p:txBody>
      </p:sp>
      <p:pic>
        <p:nvPicPr>
          <p:cNvPr name="Picture 83" id="8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40000">
            <a:off x="9715500" y="9169400"/>
            <a:ext cx="355600" cy="508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89900" y="9359900"/>
            <a:ext cx="3556000" cy="1016000"/>
          </a:xfrm>
          <a:prstGeom prst="rect">
            <a:avLst/>
          </a:prstGeom>
        </p:spPr>
      </p:pic>
      <p:sp>
        <p:nvSpPr>
          <p:cNvPr name="TextBox 85" id="85"/>
          <p:cNvSpPr txBox="true"/>
          <p:nvPr/>
        </p:nvSpPr>
        <p:spPr>
          <a:xfrm rot="0">
            <a:off x="8559800" y="95631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전략 내용 입력</a:t>
            </a:r>
          </a:p>
        </p:txBody>
      </p:sp>
      <p:pic>
        <p:nvPicPr>
          <p:cNvPr name="Picture 86" id="8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259300" y="4902200"/>
            <a:ext cx="8153400" cy="508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32600" y="6553200"/>
            <a:ext cx="3556000" cy="1016000"/>
          </a:xfrm>
          <a:prstGeom prst="rect">
            <a:avLst/>
          </a:prstGeom>
        </p:spPr>
      </p:pic>
      <p:sp>
        <p:nvSpPr>
          <p:cNvPr name="TextBox 88" id="88"/>
          <p:cNvSpPr txBox="true"/>
          <p:nvPr/>
        </p:nvSpPr>
        <p:spPr>
          <a:xfrm rot="0">
            <a:off x="20015200" y="67691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과거 이력 조회</a:t>
            </a:r>
          </a:p>
        </p:txBody>
      </p:sp>
      <p:pic>
        <p:nvPicPr>
          <p:cNvPr name="Picture 89" id="8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32600" y="7924800"/>
            <a:ext cx="3556000" cy="1016000"/>
          </a:xfrm>
          <a:prstGeom prst="rect">
            <a:avLst/>
          </a:prstGeom>
        </p:spPr>
      </p:pic>
      <p:sp>
        <p:nvSpPr>
          <p:cNvPr name="TextBox 90" id="90"/>
          <p:cNvSpPr txBox="true"/>
          <p:nvPr/>
        </p:nvSpPr>
        <p:spPr>
          <a:xfrm rot="0">
            <a:off x="20015200" y="81280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전문가 컬럼</a:t>
            </a:r>
          </a:p>
        </p:txBody>
      </p:sp>
      <p:pic>
        <p:nvPicPr>
          <p:cNvPr name="Picture 91" id="9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58000" y="9296400"/>
            <a:ext cx="3556000" cy="1016000"/>
          </a:xfrm>
          <a:prstGeom prst="rect">
            <a:avLst/>
          </a:prstGeom>
        </p:spPr>
      </p:pic>
      <p:sp>
        <p:nvSpPr>
          <p:cNvPr name="TextBox 92" id="92"/>
          <p:cNvSpPr txBox="true"/>
          <p:nvPr/>
        </p:nvSpPr>
        <p:spPr>
          <a:xfrm rot="0">
            <a:off x="20040600" y="94996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인기 게시글</a:t>
            </a:r>
          </a:p>
        </p:txBody>
      </p:sp>
      <p:pic>
        <p:nvPicPr>
          <p:cNvPr name="Picture 93" id="9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342600" y="6553200"/>
            <a:ext cx="3556000" cy="1016000"/>
          </a:xfrm>
          <a:prstGeom prst="rect">
            <a:avLst/>
          </a:prstGeom>
        </p:spPr>
      </p:pic>
      <p:sp>
        <p:nvSpPr>
          <p:cNvPr name="TextBox 94" id="94"/>
          <p:cNvSpPr txBox="true"/>
          <p:nvPr/>
        </p:nvSpPr>
        <p:spPr>
          <a:xfrm rot="0">
            <a:off x="23812500" y="67691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로그아웃</a:t>
            </a:r>
          </a:p>
        </p:txBody>
      </p:sp>
      <p:pic>
        <p:nvPicPr>
          <p:cNvPr name="Picture 95" id="9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342600" y="7924800"/>
            <a:ext cx="3556000" cy="1016000"/>
          </a:xfrm>
          <a:prstGeom prst="rect">
            <a:avLst/>
          </a:prstGeom>
        </p:spPr>
      </p:pic>
      <p:sp>
        <p:nvSpPr>
          <p:cNvPr name="TextBox 96" id="96"/>
          <p:cNvSpPr txBox="true"/>
          <p:nvPr/>
        </p:nvSpPr>
        <p:spPr>
          <a:xfrm rot="0">
            <a:off x="23825200" y="8128000"/>
            <a:ext cx="25781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시스템 설정</a:t>
            </a:r>
          </a:p>
        </p:txBody>
      </p:sp>
      <p:pic>
        <p:nvPicPr>
          <p:cNvPr name="Picture 97" id="9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107400" y="5105400"/>
            <a:ext cx="355600" cy="508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5234900" y="5054600"/>
            <a:ext cx="355600" cy="508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209000" y="6350000"/>
            <a:ext cx="355600" cy="508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183600" y="7747000"/>
            <a:ext cx="355600" cy="508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120100" y="9105900"/>
            <a:ext cx="355600" cy="508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24993600" y="9144000"/>
            <a:ext cx="355600" cy="508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25006300" y="7721600"/>
            <a:ext cx="355600" cy="50800"/>
          </a:xfrm>
          <a:prstGeom prst="rect">
            <a:avLst/>
          </a:prstGeom>
        </p:spPr>
      </p:pic>
      <p:pic>
        <p:nvPicPr>
          <p:cNvPr name="Picture 104" id="10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25031700" y="6350000"/>
            <a:ext cx="355600" cy="508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399999">
            <a:off x="2184400" y="10541000"/>
            <a:ext cx="355600" cy="508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10718800"/>
            <a:ext cx="3556000" cy="1016000"/>
          </a:xfrm>
          <a:prstGeom prst="rect">
            <a:avLst/>
          </a:prstGeom>
        </p:spPr>
      </p:pic>
      <p:sp>
        <p:nvSpPr>
          <p:cNvPr name="TextBox 107" id="107"/>
          <p:cNvSpPr txBox="true"/>
          <p:nvPr/>
        </p:nvSpPr>
        <p:spPr>
          <a:xfrm rot="0">
            <a:off x="1041400" y="109347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비밀번호 찾기</a:t>
            </a:r>
          </a:p>
        </p:txBody>
      </p:sp>
      <p:pic>
        <p:nvPicPr>
          <p:cNvPr name="Picture 108" id="10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355300" y="10706100"/>
            <a:ext cx="3556000" cy="1016000"/>
          </a:xfrm>
          <a:prstGeom prst="rect">
            <a:avLst/>
          </a:prstGeom>
        </p:spPr>
      </p:pic>
      <p:sp>
        <p:nvSpPr>
          <p:cNvPr name="TextBox 109" id="109"/>
          <p:cNvSpPr txBox="true"/>
          <p:nvPr/>
        </p:nvSpPr>
        <p:spPr>
          <a:xfrm rot="0">
            <a:off x="23837900" y="109220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</a:t>
            </a:r>
          </a:p>
        </p:txBody>
      </p:sp>
      <p:pic>
        <p:nvPicPr>
          <p:cNvPr name="Picture 110" id="1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4980900" y="10502900"/>
            <a:ext cx="355600" cy="508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583400" y="5194300"/>
            <a:ext cx="3556000" cy="1016000"/>
          </a:xfrm>
          <a:prstGeom prst="rect">
            <a:avLst/>
          </a:prstGeom>
        </p:spPr>
      </p:pic>
      <p:sp>
        <p:nvSpPr>
          <p:cNvPr name="TextBox 112" id="112"/>
          <p:cNvSpPr txBox="true"/>
          <p:nvPr/>
        </p:nvSpPr>
        <p:spPr>
          <a:xfrm rot="0">
            <a:off x="20154900" y="5410200"/>
            <a:ext cx="2425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진단 이력</a:t>
            </a:r>
          </a:p>
        </p:txBody>
      </p:sp>
      <p:pic>
        <p:nvPicPr>
          <p:cNvPr name="Picture 113" id="1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342600" y="9309100"/>
            <a:ext cx="3556000" cy="1016000"/>
          </a:xfrm>
          <a:prstGeom prst="rect">
            <a:avLst/>
          </a:prstGeom>
        </p:spPr>
      </p:pic>
      <p:sp>
        <p:nvSpPr>
          <p:cNvPr name="TextBox 114" id="114"/>
          <p:cNvSpPr txBox="true"/>
          <p:nvPr/>
        </p:nvSpPr>
        <p:spPr>
          <a:xfrm rot="0">
            <a:off x="23812500" y="95250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부가 기능</a:t>
            </a:r>
          </a:p>
        </p:txBody>
      </p:sp>
      <p:pic>
        <p:nvPicPr>
          <p:cNvPr name="Picture 115" id="1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342600" y="12103100"/>
            <a:ext cx="3556000" cy="1016000"/>
          </a:xfrm>
          <a:prstGeom prst="rect">
            <a:avLst/>
          </a:prstGeom>
        </p:spPr>
      </p:pic>
      <p:sp>
        <p:nvSpPr>
          <p:cNvPr name="TextBox 116" id="116"/>
          <p:cNvSpPr txBox="true"/>
          <p:nvPr/>
        </p:nvSpPr>
        <p:spPr>
          <a:xfrm rot="0">
            <a:off x="23812500" y="123063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플랜 선택</a:t>
            </a:r>
          </a:p>
        </p:txBody>
      </p:sp>
      <p:pic>
        <p:nvPicPr>
          <p:cNvPr name="Picture 117" id="1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4968200" y="11899900"/>
            <a:ext cx="355600" cy="508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380700" y="13436600"/>
            <a:ext cx="3556000" cy="1016000"/>
          </a:xfrm>
          <a:prstGeom prst="rect">
            <a:avLst/>
          </a:prstGeom>
        </p:spPr>
      </p:pic>
      <p:sp>
        <p:nvSpPr>
          <p:cNvPr name="TextBox 119" id="119"/>
          <p:cNvSpPr txBox="true"/>
          <p:nvPr/>
        </p:nvSpPr>
        <p:spPr>
          <a:xfrm rot="0">
            <a:off x="23863300" y="13639800"/>
            <a:ext cx="260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결제</a:t>
            </a:r>
          </a:p>
        </p:txBody>
      </p:sp>
      <p:pic>
        <p:nvPicPr>
          <p:cNvPr name="Picture 120" id="1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5006300" y="13233400"/>
            <a:ext cx="355600" cy="508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393400" y="5194300"/>
            <a:ext cx="3556000" cy="1016000"/>
          </a:xfrm>
          <a:prstGeom prst="rect">
            <a:avLst/>
          </a:prstGeom>
        </p:spPr>
      </p:pic>
      <p:sp>
        <p:nvSpPr>
          <p:cNvPr name="TextBox 122" id="122"/>
          <p:cNvSpPr txBox="true"/>
          <p:nvPr/>
        </p:nvSpPr>
        <p:spPr>
          <a:xfrm rot="0">
            <a:off x="23964900" y="5410200"/>
            <a:ext cx="24003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마이 페이지/설정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5405100" y="9563100"/>
            <a:ext cx="40767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시맨틱 맵 데이터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46400" y="2921000"/>
            <a:ext cx="21297900" cy="50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946400" y="1066800"/>
            <a:ext cx="149987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71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플로우 차트 (회원가입 / 로그인)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671300" y="2755900"/>
            <a:ext cx="1104900" cy="30099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1303000" y="3962400"/>
            <a:ext cx="18542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16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72100" y="13233400"/>
            <a:ext cx="3009900" cy="1206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524500" y="13550900"/>
            <a:ext cx="27305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 성공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16300" y="6870700"/>
            <a:ext cx="3009900" cy="12065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6662400" y="7175500"/>
            <a:ext cx="19177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Home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61000" y="6870700"/>
            <a:ext cx="3009900" cy="1206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638800" y="7175500"/>
            <a:ext cx="2641600" cy="58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 폼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52100" y="5346700"/>
            <a:ext cx="3568700" cy="1358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1341100" y="5524500"/>
            <a:ext cx="17780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ctr" lvl="0">
              <a:lnSpc>
                <a:spcPct val="83000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83000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성패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105400" y="10248900"/>
            <a:ext cx="3568700" cy="1358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994400" y="10426700"/>
            <a:ext cx="1778000" cy="10922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ctr" lvl="0">
              <a:lnSpc>
                <a:spcPct val="83000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유효성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ctr" lvl="0">
              <a:lnSpc>
                <a:spcPct val="116199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체크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461000" y="8623300"/>
            <a:ext cx="3009900" cy="1079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702300" y="8661400"/>
            <a:ext cx="2527300" cy="10160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ctr" lvl="0">
              <a:lnSpc>
                <a:spcPct val="83000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회원정보</a:t>
            </a:r>
          </a:p>
          <a:p>
            <a:pPr algn="ctr" lvl="0">
              <a:lnSpc>
                <a:spcPct val="83000"/>
              </a:lnSpc>
            </a:pP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6438900" y="6337300"/>
            <a:ext cx="863600" cy="190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58000" y="5994400"/>
            <a:ext cx="3695700" cy="63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950700" y="4978400"/>
            <a:ext cx="546100" cy="190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7170400" y="6337300"/>
            <a:ext cx="863600" cy="190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19200" y="5994400"/>
            <a:ext cx="3695700" cy="6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604000" y="8255000"/>
            <a:ext cx="546100" cy="190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6604000" y="9880600"/>
            <a:ext cx="546100" cy="1905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5740400" y="5397500"/>
            <a:ext cx="2057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No(비회원)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383000" y="5397500"/>
            <a:ext cx="25908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Yes(기존회원)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5399999">
            <a:off x="6045200" y="12306300"/>
            <a:ext cx="1663700" cy="190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6451600" y="12103100"/>
            <a:ext cx="838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>Yes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8470900" y="10020300"/>
            <a:ext cx="1816100" cy="63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394700" y="9067800"/>
            <a:ext cx="1028700" cy="1905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572500" y="10896600"/>
            <a:ext cx="850900" cy="635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9105900" y="9753600"/>
            <a:ext cx="673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highlight>
                  <a:srgbClr val="FFFFFF"/>
                </a:highlight>
                <a:latin typeface="Pretendard Regular"/>
                <a:ea typeface="Pretendard Regular"/>
                <a:cs typeface="Pretendard Regular"/>
              </a:rPr>
              <a:t>No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817100" y="9385300"/>
            <a:ext cx="2743200" cy="16129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9766300" y="9588500"/>
            <a:ext cx="2844800" cy="1092200"/>
          </a:xfrm>
          <a:prstGeom prst="rect">
            <a:avLst/>
          </a:prstGeom>
        </p:spPr>
        <p:txBody>
          <a:bodyPr anchor="t" rtlCol="false" lIns="0" tIns="84667" rIns="0" bIns="0"/>
          <a:lstStyle/>
          <a:p>
            <a:pPr algn="ctr" lvl="0">
              <a:lnSpc>
                <a:spcPct val="83000"/>
              </a:lnSpc>
            </a:pPr>
            <a:r>
              <a:rPr lang="en-US" sz="25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[시스템 알림]</a:t>
            </a:r>
            <a:r>
              <a:rPr lang="en-US" sz="25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  <a:r>
              <a:rPr lang="en-US" sz="25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모든 값을</a:t>
            </a:r>
          </a:p>
          <a:p>
            <a:pPr algn="ctr" lvl="0">
              <a:lnSpc>
                <a:spcPct val="83000"/>
              </a:lnSpc>
            </a:pPr>
            <a:r>
              <a:rPr lang="en-US" sz="252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입력해주세요.</a:t>
            </a:r>
          </a:p>
        </p:txBody>
      </p: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1270000" y="7213600"/>
          <a:ext cx="2743200" cy="4711700"/>
        </p:xfrm>
        <a:graphic>
          <a:graphicData uri="http://schemas.openxmlformats.org/drawingml/2006/table">
            <a:tbl>
              <a:tblPr/>
              <a:tblGrid>
                <a:gridCol w="2738266"/>
              </a:tblGrid>
              <a:tr h="1127607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916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회원정보 입력</a:t>
                      </a:r>
                      <a:endParaRPr lang="en-US" sz="1100"/>
                    </a:p>
                  </a:txBody>
                  <a:tcPr anchor="ctr" marL="25400" marT="80024" marR="25400" marB="8002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  <a:tr h="3588912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아이디</a:t>
                      </a:r>
                      <a:endParaRPr lang="en-US" sz="1100"/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비밀번호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닉네임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이메일</a:t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/>
                      </a:r>
                    </a:p>
                    <a:p>
                      <a:pPr algn="ctr" lvl="0">
                        <a:lnSpc>
                          <a:spcPct val="91714"/>
                        </a:lnSpc>
                      </a:pPr>
                      <a:r>
                        <a:rPr lang="en-US" sz="2721" b="false" i="false" u="none" strike="noStrike">
                          <a:solidFill>
                            <a:srgbClr val="000000"/>
                          </a:solidFill>
                          <a:latin typeface="S-Core Dream 5 Medium"/>
                          <a:ea typeface="S-Core Dream 5 Medium"/>
                          <a:cs typeface="S-Core Dream 5 Medium"/>
                        </a:rPr>
                        <a:t>소속/팀명</a:t>
                      </a:r>
                    </a:p>
                  </a:txBody>
                  <a:tcPr anchor="ctr" marL="25400" marT="76384" marR="25400" marB="76384">
                    <a:lnL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36" id="3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038600" y="9067800"/>
            <a:ext cx="1511300" cy="190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502400" y="14820900"/>
            <a:ext cx="812800" cy="50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98500" y="15201900"/>
            <a:ext cx="6184900" cy="50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-4775200" y="9702800"/>
            <a:ext cx="10998200" cy="50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36600" y="4165600"/>
            <a:ext cx="9982200" cy="1905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5074900" y="8585200"/>
            <a:ext cx="9512300" cy="63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14757400" y="8902700"/>
            <a:ext cx="698500" cy="63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5399999">
            <a:off x="16878300" y="8280400"/>
            <a:ext cx="482600" cy="635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24218900" y="8902700"/>
            <a:ext cx="698500" cy="63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18008600" y="8928100"/>
            <a:ext cx="698500" cy="635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21259800" y="8902700"/>
            <a:ext cx="698500" cy="63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3919200" y="9245600"/>
            <a:ext cx="2324100" cy="927100"/>
          </a:xfrm>
          <a:prstGeom prst="rect">
            <a:avLst/>
          </a:prstGeom>
        </p:spPr>
      </p:pic>
      <p:sp>
        <p:nvSpPr>
          <p:cNvPr name="TextBox 48" id="48"/>
          <p:cNvSpPr txBox="true"/>
          <p:nvPr/>
        </p:nvSpPr>
        <p:spPr>
          <a:xfrm rot="0">
            <a:off x="14338300" y="94869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카테고리</a:t>
            </a:r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132300" y="9283700"/>
            <a:ext cx="2324100" cy="927100"/>
          </a:xfrm>
          <a:prstGeom prst="rect">
            <a:avLst/>
          </a:prstGeom>
        </p:spPr>
      </p:pic>
      <p:sp>
        <p:nvSpPr>
          <p:cNvPr name="TextBox 50" id="50"/>
          <p:cNvSpPr txBox="true"/>
          <p:nvPr/>
        </p:nvSpPr>
        <p:spPr>
          <a:xfrm rot="0">
            <a:off x="17551400" y="95123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업로드</a:t>
            </a:r>
          </a:p>
        </p:txBody>
      </p:sp>
      <p:pic>
        <p:nvPicPr>
          <p:cNvPr name="Picture 51" id="5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408900" y="9283700"/>
            <a:ext cx="2324100" cy="927100"/>
          </a:xfrm>
          <a:prstGeom prst="rect">
            <a:avLst/>
          </a:prstGeom>
        </p:spPr>
      </p:pic>
      <p:sp>
        <p:nvSpPr>
          <p:cNvPr name="TextBox 52" id="52"/>
          <p:cNvSpPr txBox="true"/>
          <p:nvPr/>
        </p:nvSpPr>
        <p:spPr>
          <a:xfrm rot="0">
            <a:off x="20828000" y="95123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3266400" y="9283700"/>
            <a:ext cx="2324100" cy="9271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23685500" y="95123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프로필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919200" y="10769600"/>
            <a:ext cx="2425700" cy="8763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109700" y="10795000"/>
            <a:ext cx="2044700" cy="8128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ctr" lvl="0">
              <a:lnSpc>
                <a:spcPct val="83000"/>
              </a:lnSpc>
            </a:pPr>
            <a:r>
              <a:rPr lang="en-US" sz="267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카테고리</a:t>
            </a:r>
          </a:p>
          <a:p>
            <a:pPr algn="ctr" lvl="0">
              <a:lnSpc>
                <a:spcPct val="83000"/>
              </a:lnSpc>
            </a:pPr>
            <a:r>
              <a:rPr lang="en-US" sz="267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선택</a:t>
            </a:r>
          </a:p>
        </p:txBody>
      </p:sp>
      <p:pic>
        <p:nvPicPr>
          <p:cNvPr name="Picture 57" id="5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833600" y="10388600"/>
            <a:ext cx="546100" cy="1905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897100" y="11823700"/>
            <a:ext cx="546100" cy="1905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970000" y="12230100"/>
            <a:ext cx="2324100" cy="9271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14389100" y="124587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영상재생</a:t>
            </a:r>
          </a:p>
        </p:txBody>
      </p:sp>
      <p:pic>
        <p:nvPicPr>
          <p:cNvPr name="Picture 61" id="6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4269700" y="10452100"/>
            <a:ext cx="1625600" cy="9525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23964900" y="10528300"/>
            <a:ext cx="2247900" cy="469900"/>
          </a:xfrm>
          <a:prstGeom prst="rect">
            <a:avLst/>
          </a:prstGeom>
        </p:spPr>
        <p:txBody>
          <a:bodyPr anchor="t" rtlCol="false" lIns="0" tIns="67733" rIns="0" bIns="0"/>
          <a:lstStyle/>
          <a:p>
            <a:pPr algn="ctr" lvl="0">
              <a:lnSpc>
                <a:spcPct val="83000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회원정보</a:t>
            </a:r>
          </a:p>
        </p:txBody>
      </p:sp>
      <p:pic>
        <p:nvPicPr>
          <p:cNvPr name="Picture 63" id="6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0396200" y="10795000"/>
            <a:ext cx="2425700" cy="876300"/>
          </a:xfrm>
          <a:prstGeom prst="rect">
            <a:avLst/>
          </a:prstGeom>
        </p:spPr>
      </p:pic>
      <p:sp>
        <p:nvSpPr>
          <p:cNvPr name="TextBox 64" id="64"/>
          <p:cNvSpPr txBox="true"/>
          <p:nvPr/>
        </p:nvSpPr>
        <p:spPr>
          <a:xfrm rot="0">
            <a:off x="20586700" y="10820400"/>
            <a:ext cx="2044700" cy="8128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ctr" lvl="0">
              <a:lnSpc>
                <a:spcPct val="83000"/>
              </a:lnSpc>
            </a:pPr>
            <a:r>
              <a:rPr lang="en-US" sz="267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검색어</a:t>
            </a:r>
          </a:p>
          <a:p>
            <a:pPr algn="ctr" lvl="0">
              <a:lnSpc>
                <a:spcPct val="83000"/>
              </a:lnSpc>
            </a:pPr>
            <a:r>
              <a:rPr lang="en-US" sz="267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</a:p>
        </p:txBody>
      </p:sp>
      <p:pic>
        <p:nvPicPr>
          <p:cNvPr name="Picture 65" id="6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310600" y="10426700"/>
            <a:ext cx="546100" cy="190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7094200" y="10731500"/>
            <a:ext cx="2425700" cy="876300"/>
          </a:xfrm>
          <a:prstGeom prst="rect">
            <a:avLst/>
          </a:prstGeom>
        </p:spPr>
      </p:pic>
      <p:sp>
        <p:nvSpPr>
          <p:cNvPr name="TextBox 67" id="67"/>
          <p:cNvSpPr txBox="true"/>
          <p:nvPr/>
        </p:nvSpPr>
        <p:spPr>
          <a:xfrm rot="0">
            <a:off x="17310100" y="10922000"/>
            <a:ext cx="2044700" cy="4699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ctr" lvl="0">
              <a:lnSpc>
                <a:spcPct val="83000"/>
              </a:lnSpc>
            </a:pPr>
            <a:r>
              <a:rPr lang="en-US" sz="267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파일첨부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7995900" y="10375900"/>
            <a:ext cx="546100" cy="190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1323300" y="11849100"/>
            <a:ext cx="546100" cy="190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0396200" y="12268200"/>
            <a:ext cx="2324100" cy="9271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20815300" y="124968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영상 탐색</a:t>
            </a:r>
          </a:p>
        </p:txBody>
      </p:sp>
      <p:pic>
        <p:nvPicPr>
          <p:cNvPr name="Picture 72" id="7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8059400" y="11823700"/>
            <a:ext cx="546100" cy="190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7132300" y="12230100"/>
            <a:ext cx="2324100" cy="927100"/>
          </a:xfrm>
          <a:prstGeom prst="rect">
            <a:avLst/>
          </a:prstGeom>
        </p:spPr>
      </p:pic>
      <p:sp>
        <p:nvSpPr>
          <p:cNvPr name="TextBox 74" id="74"/>
          <p:cNvSpPr txBox="true"/>
          <p:nvPr/>
        </p:nvSpPr>
        <p:spPr>
          <a:xfrm rot="0">
            <a:off x="17551400" y="124587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저장</a:t>
            </a:r>
          </a:p>
        </p:txBody>
      </p:sp>
      <p:pic>
        <p:nvPicPr>
          <p:cNvPr name="Picture 75" id="75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5400000">
            <a:off x="22110700" y="11950700"/>
            <a:ext cx="3568700" cy="508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040100" y="13766800"/>
            <a:ext cx="8572500" cy="508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15760700" y="14084300"/>
            <a:ext cx="698500" cy="635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922500" y="14439900"/>
            <a:ext cx="2324100" cy="927100"/>
          </a:xfrm>
          <a:prstGeom prst="rect">
            <a:avLst/>
          </a:prstGeom>
        </p:spPr>
      </p:pic>
      <p:sp>
        <p:nvSpPr>
          <p:cNvPr name="TextBox 79" id="79"/>
          <p:cNvSpPr txBox="true"/>
          <p:nvPr/>
        </p:nvSpPr>
        <p:spPr>
          <a:xfrm rot="0">
            <a:off x="15341600" y="14503400"/>
            <a:ext cx="1485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회원정보수정</a:t>
            </a:r>
          </a:p>
        </p:txBody>
      </p:sp>
      <p:pic>
        <p:nvPicPr>
          <p:cNvPr name="Picture 80" id="8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24218900" y="14109700"/>
            <a:ext cx="698500" cy="635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3368000" y="14452600"/>
            <a:ext cx="2324100" cy="927100"/>
          </a:xfrm>
          <a:prstGeom prst="rect">
            <a:avLst/>
          </a:prstGeom>
        </p:spPr>
      </p:pic>
      <p:sp>
        <p:nvSpPr>
          <p:cNvPr name="TextBox 82" id="82"/>
          <p:cNvSpPr txBox="true"/>
          <p:nvPr/>
        </p:nvSpPr>
        <p:spPr>
          <a:xfrm rot="0">
            <a:off x="23787100" y="146939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회원탈퇴</a:t>
            </a:r>
          </a:p>
        </p:txBody>
      </p:sp>
      <p:pic>
        <p:nvPicPr>
          <p:cNvPr name="Picture 83" id="83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18643600" y="14109700"/>
            <a:ext cx="698500" cy="635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7805400" y="14452600"/>
            <a:ext cx="2324100" cy="927100"/>
          </a:xfrm>
          <a:prstGeom prst="rect">
            <a:avLst/>
          </a:prstGeom>
        </p:spPr>
      </p:pic>
      <p:sp>
        <p:nvSpPr>
          <p:cNvPr name="TextBox 85" id="85"/>
          <p:cNvSpPr txBox="true"/>
          <p:nvPr/>
        </p:nvSpPr>
        <p:spPr>
          <a:xfrm rot="0">
            <a:off x="18249900" y="14490700"/>
            <a:ext cx="14859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비밀번호 변경</a:t>
            </a:r>
          </a:p>
        </p:txBody>
      </p:sp>
      <p:pic>
        <p:nvPicPr>
          <p:cNvPr name="Picture 86" id="8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21526500" y="14084300"/>
            <a:ext cx="698500" cy="635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675600" y="14439900"/>
            <a:ext cx="2324100" cy="927100"/>
          </a:xfrm>
          <a:prstGeom prst="rect">
            <a:avLst/>
          </a:prstGeom>
        </p:spPr>
      </p:pic>
      <p:sp>
        <p:nvSpPr>
          <p:cNvPr name="TextBox 88" id="88"/>
          <p:cNvSpPr txBox="true"/>
          <p:nvPr/>
        </p:nvSpPr>
        <p:spPr>
          <a:xfrm rot="0">
            <a:off x="21107400" y="14668500"/>
            <a:ext cx="14859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56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보관함</a:t>
            </a:r>
          </a:p>
        </p:txBody>
      </p:sp>
      <p:pic>
        <p:nvPicPr>
          <p:cNvPr name="Picture 89" id="8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4612600" y="15913100"/>
            <a:ext cx="1866900" cy="508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5520000">
            <a:off x="24358600" y="15633700"/>
            <a:ext cx="596900" cy="635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5400000">
            <a:off x="20523200" y="9956800"/>
            <a:ext cx="11874500" cy="508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10800000">
            <a:off x="13728700" y="4000500"/>
            <a:ext cx="126873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로그인_01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 화면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5000" y="114554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메인화면/로그인 화면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6900" y="8445500"/>
            <a:ext cx="55499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ID와 PW를 입력하고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로그인을 할 수 있는 화면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(소셜 로그인 포함)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47000" y="123444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8000" y="13144500"/>
            <a:ext cx="20459700" cy="373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1번(이메일) 및 2번(비밀번호): 사용자 계정 인증을 위한 텍스트 입력 필드.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3번(로그인): 클릭 시 인증을 시도함. 로그인 성공 시 '메인 화면'으로 이동하며, 실패 시 화면 내에 오류 메시지 노출.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4번(로그인 유지): 체크박스 선택 시 브라우저 재접속 시에도 로그인 세션 상태를 유지함.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5번(비밀번호 찾기): 클릭 시 계정의 비밀번호를 재설정할 수 있는 페이지로 이동함.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간편 로그인 (추가 권장): 카카오, 네이버, 구글 연동을 통한 소셜 간편 로그인 기능을 제공함.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50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회원가입 (추가 권장): 최하단 텍스트 링크 클릭 시 신규 계정 생성을 위한 회원가입 페이지로 이동함.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-25400"/>
            <a:ext cx="20421600" cy="12331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212300" y="2921000"/>
            <a:ext cx="431800" cy="723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212300" y="4457700"/>
            <a:ext cx="520700" cy="647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148800" y="6311900"/>
            <a:ext cx="673100" cy="774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40200" y="5537200"/>
            <a:ext cx="673100" cy="774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688300" y="5537200"/>
            <a:ext cx="6731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56400" y="0"/>
            <a:ext cx="20421600" cy="12344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 화면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로그인/회원가입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가입정보를 입력하고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회원가입을 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7000" y="12801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7000" y="13855700"/>
            <a:ext cx="164719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1~5번: 이름, 이메일, 비밀번호 등 회원가입 필수 정보 입력 및 약관 동의 영역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6번: 모든 필수 정보 입력 후 클릭하여 회원가입 절차를 완료함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7번: 이미 계정이 있는 사용자를 위해 '로그인 화면'으로 돌아가는 링크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※ 비고: 당초 기획했던 ID(이메일) 중복 여부 확인 기능이 현재 UI 구현에서 누락됨 (추후 보완 필요)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24800" y="3898900"/>
            <a:ext cx="368300" cy="62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612100" y="5397500"/>
            <a:ext cx="4572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650200" y="6896100"/>
            <a:ext cx="508000" cy="584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624800" y="8496300"/>
            <a:ext cx="571500" cy="660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799300" y="9296400"/>
            <a:ext cx="584200" cy="673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764500" y="10655300"/>
            <a:ext cx="533400" cy="622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561300" y="368300"/>
            <a:ext cx="5461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654800" y="0"/>
            <a:ext cx="205232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1176000"/>
            <a:ext cx="20421600" cy="571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홈화면_01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메인 홈 화면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웹페이지에 처음 들어왔을 때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보이는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1900" y="117602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81900" y="12827000"/>
            <a:ext cx="188976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'지금 전략 진단하기' 버튼으로, 클릭 시 진단 화면('홈화면_02' 슬라이드 참조)으로 전환됨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'인사이트 보기' 버튼으로, 클릭 시 인사이트 페이지로 바로 이동함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3~4번: 좌측 상단 로고 및 '홈' 메뉴 탭으로, 클릭 시 메인 홈 화면으로 돌아옴(새로고침)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757400" y="5168900"/>
            <a:ext cx="381000" cy="647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87900" y="5168900"/>
            <a:ext cx="546100" cy="673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21500" y="584200"/>
            <a:ext cx="533400" cy="62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81900" y="533400"/>
            <a:ext cx="6096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56400" y="25400"/>
            <a:ext cx="20396200" cy="12319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리스크 진단 화면_01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2300" y="107442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6900" y="11684000"/>
            <a:ext cx="494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로그인/홈/전략 진단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/원하는 산업군 선택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카테고리 탭에서 원하는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카테고리를 눌렀을 때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등장하는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47000" y="12801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47000" y="13855700"/>
            <a:ext cx="195580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메뉴의 '전략 진단' 탭으로, 클릭 시 현재의 리스크 진단 단계 화면으로 진입함.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분석 정확도를 높이기 위해 사용자가 속한 산업군 카테고리(예: 미디어/엔터테인먼트)를 선택하는 영역.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산업군 선택을 완료한 후 '다음' 버튼을 클릭하여, 다음 진단 단계(2/3단계)로 이동함.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34600" y="774700"/>
            <a:ext cx="5207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12900" y="6883400"/>
            <a:ext cx="533400" cy="673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717000" y="9169400"/>
            <a:ext cx="6223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674100" y="25400"/>
            <a:ext cx="16548100" cy="12319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진단_02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5905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리스크 진단 화면_02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6057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로그인/홈/전략 진단
/산업군 선택/유형 전략선택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최근 인기 키워드 분석 순위를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직관적으로 제시하는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08900" y="131445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08900" y="14173200"/>
            <a:ext cx="195961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사용자가 평가하고자 하는 가장 가까운 전략 유형(예: 디지털 전환)을 한 가지 선택하는 영역.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전략 유형 선택을 완료한 후 '다음' 버튼을 클릭하여 다음 진단 단계(3/3단계)로 이동함.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선택을 수정하거나 이전 과정으로 돌아가고 싶을 경우, '이전' 텍스트를 클릭하여 이전 단계(산업군 선택 화면)로 되돌아감.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411700" y="4279900"/>
            <a:ext cx="5207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043900" y="9626600"/>
            <a:ext cx="4445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169900" y="9626600"/>
            <a:ext cx="4191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56400" y="12700"/>
            <a:ext cx="20421600" cy="1228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2344400"/>
            <a:ext cx="20421600" cy="4546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진단_03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5905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리스크 진단 화면_03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60579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로그인/홈/전략 진단
/산업군 선택/유형 전략선택/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리스크 진단 시작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트렌드 키워드와 관련된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데이터 리포트를 제시하는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08900" y="131445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6200" y="14173200"/>
            <a:ext cx="166116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이전 단계에서 선택한 '산업군' 및 '전략 유형' 정보가 맞는지 최종적으로 확인하는 영역.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평가받고자 하는 구체적인 전략 내용을 사용자가 직접 텍스트로 기입하는 입력 필드.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전략 내용 작성을 완료한 후 클릭하여 본격적인 AI 리스크 진단 분석을 시작하는 버튼.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4번: 입력 내용을 수정하거나 이전 단계(전략 유형 선택 화면)로 되돌아가고 싶을 때 클릭하는 링크.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99900" y="3848100"/>
            <a:ext cx="457200" cy="762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0" y="6311900"/>
            <a:ext cx="622300" cy="787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980400" y="9232900"/>
            <a:ext cx="685800" cy="787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15900" y="9626600"/>
            <a:ext cx="4318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518400" y="0"/>
            <a:ext cx="18973800" cy="1145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1455400"/>
            <a:ext cx="20421600" cy="5435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 인사이트_01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원하는 콘텐츠를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올릴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0" y="118237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0" y="12890500"/>
            <a:ext cx="189738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메뉴의 '인사이트' 탭으로, 클릭 시 해당 경영 인사이트 대시보드 화면으로 진입함.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수집된 경영 데이터(아티클, 성공/실패 사례, 전략 클러스터 등)의 전체 건수 및 요약 현황을 확인하는 영역.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새로고침 아이콘으로, 클릭 시 화면 내 데이터를 최신 상태로 실시간 업데이트함.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4번: '전략 클러스터 분포' 영역으로, 각 주제별/카테고리별 인사이트 데이터 분포도를 한눈에 파악할 수 있음.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925300" y="215900"/>
            <a:ext cx="355600" cy="584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713200" y="1663700"/>
            <a:ext cx="457200" cy="571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206200" y="1181100"/>
            <a:ext cx="444500" cy="50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77500" y="4368800"/>
            <a:ext cx="4318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15200" y="12700"/>
            <a:ext cx="19291300" cy="11747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1747500"/>
            <a:ext cx="20421600" cy="5143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6900" y="40767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 인사이트_02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8077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7475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자동으로 올라오는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최신 콘텐츠 목록을 확인할 수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97800" y="123444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53300" y="13195300"/>
            <a:ext cx="198120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대시보드 화면(인사이트_01)에서 하단으로 스크롤 시 나타나는 인사이트 검색 및 리스트 영역.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원하는 경영 인사이트 키워드를 직접 입력하여 관련 사례를 찾을 수 있는 검색창.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 (전체): 탭 선택 후 검색 시, 성공 및 실패 사례를 모두 포함한 전체 결과를 리스트업함.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 (성공): 탭 선택 후 검색 시, 데이터 중 '성공 사례'만 필터링하여 노출함.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5번 (실패): 탭 선택 후 검색 시, 데이터 중 '실패 사례'만 필터링하여 노출함.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6번: 조회된 개별 경영 인사이트 항목. 특정 항목 클릭 시 해당 사례의 상세 내용 페이지(다음 슬라이드 참조)로 이동함.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59800" y="1320800"/>
            <a:ext cx="330200" cy="558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531600" y="1587500"/>
            <a:ext cx="558800" cy="698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183600" y="1435100"/>
            <a:ext cx="508000" cy="584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199600" y="1435100"/>
            <a:ext cx="584200" cy="673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164800" y="1295400"/>
            <a:ext cx="673100" cy="774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70100" y="2933700"/>
            <a:ext cx="7620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56400" y="0"/>
            <a:ext cx="20421600" cy="10236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인사이트_03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경영 인사이트_03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로그인/홈/인사이트/원하는 인사이트 클릭</a:t>
            </a: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8400" y="10515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8400" y="11391900"/>
            <a:ext cx="190246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이전 화면에서 개별 인사이트 항목 클릭 시 진입하는 상세 페이지 상단 영역으로, 사례의 제목, 카테고리(성공/실패 등) 및 AI가 분석한 '핵심 요약' 정보를 제공함.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해당 사례의 세부 데이터를 시각화하여 보여주는 하단 영역으로, '전략 역량 분석'(막대그래프), '밸런스 종합 평가'(방사형 차트) 및 '라벨링 신뢰도' 등의 지표를 직관적으로 확인할 수 있음.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582400" y="762000"/>
            <a:ext cx="279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2910800" y="1181100"/>
            <a:ext cx="12192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19900" y="0"/>
            <a:ext cx="20320000" cy="1024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진단 이력_01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진단이력_01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54102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로그인화면/메인화며/진단 이력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8400" y="10515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8400" y="11391900"/>
            <a:ext cx="190246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메뉴의 '진단 이력' 탭으로, 클릭 시 사용자가 과거에 의뢰했던 전략 리스크 진단 기록 목록을 확인할 수 있는 화면으로 진입함.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개별 진단 내역 항목. 진단 일자, 사용자가 입력했던 질의 내용과 함께 AI가 분석한 리스크 평가 결과(예: 리스크 높음)를 요약하여 직관적으로 제공함.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01600" y="520700"/>
            <a:ext cx="279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475700" y="1473200"/>
            <a:ext cx="12192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56400" y="0"/>
            <a:ext cx="15773400" cy="1024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시맨틱맵_01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전략 시맨틱맵_01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시맨틱 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8400" y="104013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42200" y="11366500"/>
            <a:ext cx="19024600" cy="5334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'시맨틱 맵' 탭 (현재 화면)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이전 화면으로 돌아가는 '뒤로 가기' 버튼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리스크 핵심 현황 요약 대시보드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4번 (전체 뷰): 전체 전략 지형도 표시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5번 (성공만): 성공 사례만 필터링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6번 (실패만): 실패 사례만 필터링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7번 (리스크 모드): 고위험 요인 중심으로 맵 시점 전환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8번 (전체 클러스터): 전체 데이터 군집 분포 확인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9번: 상단 필터(4~8번) 선택이 반영되어 시각화되는 시맨틱 맵 메인 영역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661900" y="355600"/>
            <a:ext cx="279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518400" y="990600"/>
            <a:ext cx="4445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27900" y="4521200"/>
            <a:ext cx="4191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58100" y="6324600"/>
            <a:ext cx="431800" cy="495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724900" y="6324600"/>
            <a:ext cx="457200" cy="533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613900" y="6311900"/>
            <a:ext cx="444500" cy="508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414000" y="6311900"/>
            <a:ext cx="495300" cy="571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760200" y="6324600"/>
            <a:ext cx="431800" cy="495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42200" y="7620000"/>
            <a:ext cx="800100" cy="927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529800" y="5207000"/>
            <a:ext cx="4902200" cy="5118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56400" y="0"/>
            <a:ext cx="20421600" cy="1024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-16510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구독서비스_01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 화면_01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8400" y="10515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8400" y="11391900"/>
            <a:ext cx="190246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상단 '구독' 버튼 (클릭 시 현재의 구독 플랜 선택 화면으로 진입)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베이직(무료) 플랜 '시작하기' 버튼 (클릭 시 다시 홈 화면으로 이동)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3번: 프리미엄 플랜 '구독하기' 버튼 (클릭 시 상세 구독 창으로 이동, 다음 장 참조)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4~5번: 좌측 상단 로고(4번) 및 '홈' 탭(5번) (클릭 시 메인 홈 화면으로 이동)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345900" y="279400"/>
            <a:ext cx="279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52400" y="5994400"/>
            <a:ext cx="4445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440400" y="6070600"/>
            <a:ext cx="419100" cy="482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86600" y="533400"/>
            <a:ext cx="431800" cy="495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40700" y="508000"/>
            <a:ext cx="4572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671300" y="1092200"/>
            <a:ext cx="10591800" cy="8534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구독서비스_02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구독 화면_02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로그인화면/메인화면/
구독창/구독하기</a:t>
            </a: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8400" y="10515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67600" y="11391900"/>
            <a:ext cx="197993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'결제 진행하기' 버튼으로, 클릭 시 선택한 플랜의 결제를 진행하기 위한 실제 결제 모듈(또는 다음 단계)로 이동함.</a:t>
            </a:r>
            <a:b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'이전으로 돌아가기' 버튼으로, 결제를 취소/보류하거나 이전 화면(구독 플랜 선택 화면)으로 되돌아가고 싶을 때 클릭함.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345400" y="6604000"/>
            <a:ext cx="279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392400" y="7708900"/>
            <a:ext cx="5588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21800" y="0"/>
            <a:ext cx="15392400" cy="1024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6756400" cy="168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756400" y="10248900"/>
            <a:ext cx="20421600" cy="6642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90600"/>
            <a:ext cx="20193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3900" y="19431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다크모드_01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500" y="3200400"/>
            <a:ext cx="25019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 이름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000" y="40132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다크모드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00" y="5397500"/>
            <a:ext cx="48768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관련 유스케이스 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400" y="14173200"/>
            <a:ext cx="18161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작성자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400" y="105156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메뉴경로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0400" y="7620000"/>
            <a:ext cx="23495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화면개요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11455400"/>
            <a:ext cx="49403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로그인화면/홈/다크모드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900" y="8445500"/>
            <a:ext cx="55499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사용자가 본인의 정보를 </a:t>
            </a:r>
          </a:p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확인 및 수정할 수 있는 화면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8500" y="15113000"/>
            <a:ext cx="4940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팀원 - 김지호,서현철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18400" y="10515600"/>
            <a:ext cx="2362200" cy="87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9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화면설명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18400" y="11391900"/>
            <a:ext cx="190246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1번: 우측 상단의 테마 전환 아이콘으로, 클릭 시 플랫폼 전체 화면을 어두운 배경의 '다크 모드'로 변경하여 사용할 수 있음.</a:t>
            </a:r>
          </a:p>
          <a:p>
            <a:pPr algn="l" lvl="1" marL="342900" indent="-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2번: 다크 모드 적용 상태에서 해당 아이콘을 다시 클릭할 경우, 원래의 밝은 배경인 '라이트 모드'로 전환됨 (하나의 아이콘으로 상태가 전환되는 토글 방식).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771100" y="406400"/>
            <a:ext cx="2794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241000" y="342900"/>
            <a:ext cx="4318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