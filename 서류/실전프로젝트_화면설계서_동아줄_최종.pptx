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8" r:id="rId18"/>
    <p:sldId id="271" r:id="rId19"/>
    <p:sldId id="272" r:id="rId20"/>
    <p:sldId id="273" r:id="rId21"/>
    <p:sldId id="274" r:id="rId22"/>
    <p:sldId id="277" r:id="rId23"/>
  </p:sldIdLst>
  <p:sldSz cx="27178000" cy="16891000"/>
  <p:notesSz cx="6858000" cy="9144000"/>
  <p:embeddedFontLst>
    <p:embeddedFont>
      <p:font typeface="Pretendard Black" panose="020B0600000101010101" charset="-127"/>
      <p:bold r:id="rId24"/>
    </p:embeddedFont>
    <p:embeddedFont>
      <p:font typeface="Pretendard Bold" panose="020B0600000101010101" charset="-127"/>
      <p:bold r:id="rId25"/>
    </p:embeddedFont>
    <p:embeddedFont>
      <p:font typeface="Pretendard Regular" panose="020B0600000101010101" charset="-127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4" y="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20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.png"/><Relationship Id="rId7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12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67.png"/><Relationship Id="rId5" Type="http://schemas.openxmlformats.org/officeDocument/2006/relationships/image" Target="../media/image56.png"/><Relationship Id="rId10" Type="http://schemas.openxmlformats.org/officeDocument/2006/relationships/image" Target="../media/image66.png"/><Relationship Id="rId4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6.png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19.png"/><Relationship Id="rId5" Type="http://schemas.openxmlformats.org/officeDocument/2006/relationships/image" Target="../media/image56.png"/><Relationship Id="rId10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77.png"/><Relationship Id="rId7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55.png"/><Relationship Id="rId10" Type="http://schemas.openxmlformats.org/officeDocument/2006/relationships/image" Target="../media/image65.png"/><Relationship Id="rId4" Type="http://schemas.openxmlformats.org/officeDocument/2006/relationships/image" Target="../media/image5.png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38100"/>
            <a:ext cx="27178000" cy="41529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247900" y="6489700"/>
            <a:ext cx="78740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800" b="0" i="0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화면 설계서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47900" y="1587500"/>
            <a:ext cx="23811571" cy="438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과제명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: DBR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기사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시각화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및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성공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/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실패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사례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 
             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기반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인사이트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제공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8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서비스</a:t>
            </a:r>
            <a:r>
              <a:rPr lang="en-US" sz="8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15316200"/>
            <a:ext cx="35687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18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2026.06.12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5500" y="14389100"/>
            <a:ext cx="15227300" cy="184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5182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팀명</a:t>
            </a:r>
            <a:r>
              <a:rPr lang="en-US" sz="518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: 동아줄 </a:t>
            </a:r>
          </a:p>
          <a:p>
            <a:pPr lvl="0" algn="r">
              <a:lnSpc>
                <a:spcPct val="116199"/>
              </a:lnSpc>
            </a:pPr>
            <a:r>
              <a:rPr lang="en-US" sz="5182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팀원</a:t>
            </a:r>
            <a:r>
              <a:rPr lang="en-US" sz="518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: 박진엽 / 김재한 / 김지호 / 서현철 / 강동현 / 문병근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2921000"/>
            <a:ext cx="21297900" cy="50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946400" y="1066800"/>
            <a:ext cx="41529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8711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변경이력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946400" y="3670300"/>
          <a:ext cx="21296145" cy="10008712"/>
        </p:xfrm>
        <a:graphic>
          <a:graphicData uri="http://schemas.openxmlformats.org/drawingml/2006/table">
            <a:tbl>
              <a:tblPr/>
              <a:tblGrid>
                <a:gridCol w="161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7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69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108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16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버전</a:t>
                      </a:r>
                      <a:endParaRPr lang="en-US" sz="1100"/>
                    </a:p>
                  </a:txBody>
                  <a:tcPr marL="25400" marR="25400" marT="80024" marB="8002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16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작성일자</a:t>
                      </a:r>
                      <a:endParaRPr lang="en-US" sz="1100"/>
                    </a:p>
                  </a:txBody>
                  <a:tcPr marL="25400" marR="25400" marT="80024" marB="8002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16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수정사항</a:t>
                      </a:r>
                      <a:endParaRPr lang="en-US" sz="1100"/>
                    </a:p>
                  </a:txBody>
                  <a:tcPr marL="25400" marR="25400" marT="80024" marB="8002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16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작성자</a:t>
                      </a:r>
                      <a:endParaRPr lang="en-US" sz="1100"/>
                    </a:p>
                  </a:txBody>
                  <a:tcPr marL="25400" marR="25400" marT="80024" marB="8002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12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검수자</a:t>
                      </a: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21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0.1</a:t>
                      </a:r>
                      <a:endParaRPr lang="en-US" sz="1100"/>
                    </a:p>
                  </a:txBody>
                  <a:tcPr marL="25400" marR="25400" marT="76384" marB="7638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21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2026.06.12</a:t>
                      </a:r>
                      <a:endParaRPr lang="en-US" sz="1100"/>
                    </a:p>
                  </a:txBody>
                  <a:tcPr marL="25400" marR="25400" marT="76384" marB="7638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21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화면설계서 초안</a:t>
                      </a:r>
                      <a:endParaRPr lang="en-US" sz="1100"/>
                    </a:p>
                  </a:txBody>
                  <a:tcPr marL="25400" marR="25400" marT="76384" marB="7638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21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서현철,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721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김지호</a:t>
                      </a:r>
                    </a:p>
                  </a:txBody>
                  <a:tcPr marL="25400" marR="25400" marT="76384" marB="76384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12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0.2</a:t>
                      </a: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12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2026.06.20</a:t>
                      </a: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12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화면설계서 보완</a:t>
                      </a: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12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서현철,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712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김지호</a:t>
                      </a:r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218" marB="7621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1089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650"/>
          <a:stretch/>
        </p:blipFill>
        <p:spPr>
          <a:xfrm>
            <a:off x="1473200" y="901700"/>
            <a:ext cx="24841200" cy="15438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670904"/>
            <a:ext cx="25019000" cy="15549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25400"/>
            <a:ext cx="6756400" cy="1700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로그인_01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</a:t>
            </a:r>
            <a:r>
              <a:rPr lang="en-US" sz="49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93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유스케이스</a:t>
            </a:r>
            <a:r>
              <a:rPr lang="en-US" sz="49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ID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5000" y="114554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메인화면/로그인 화면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900" y="8445500"/>
            <a:ext cx="55499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ID와 PW를 입력하고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로그인을 할 수 있는 화면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(소셜 로그인 포함)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47000" y="123444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0" y="13144500"/>
            <a:ext cx="20459700" cy="373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1번(이메일) 및 2번(비밀번호): 사용자 계정 인증을 위한 텍스트 입력 필드.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3번(로그인): 클릭 시 인증을 시도함. 로그인 성공 시 '메인 화면'으로 이동하며, 실패 시 화면 내에 오류 메시지 노출.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4번(로그인 유지): 체크박스 선택 시 브라우저 재접속 시에도 로그인 세션 상태를 유지함.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5번(비밀번호 찾기): 클릭 시 계정의 비밀번호를 재설정할 수 있는 페이지로 이동함.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간편 로그인 (추가 권장): 카카오, 네이버, 구글 연동을 통한 소셜 간편 로그인 기능을 제공함.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 (추가 권장): 최하단 텍스트 링크 클릭 시 신규 계정 생성을 위한 회원가입 페이지로 이동함.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4"/>
          <a:srcRect l="740"/>
          <a:stretch/>
        </p:blipFill>
        <p:spPr>
          <a:xfrm>
            <a:off x="6731000" y="12700"/>
            <a:ext cx="20484592" cy="1233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2300" y="2921000"/>
            <a:ext cx="431800" cy="723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2300" y="4457700"/>
            <a:ext cx="5207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48800" y="6311900"/>
            <a:ext cx="673100" cy="77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7200" y="5537200"/>
            <a:ext cx="673100" cy="774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88086" y="5537200"/>
            <a:ext cx="673100" cy="774700"/>
          </a:xfrm>
          <a:prstGeom prst="rect">
            <a:avLst/>
          </a:prstGeo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92F8FA89-D8D0-45C0-9D31-0CB1F8B1AC47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D8258EF3-B839-4E4B-BA5D-3996C5FD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29" y="1"/>
            <a:ext cx="20421601" cy="1234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 화면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로그인/회원가입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가입정보를 입력하고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회원가입을 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47000" y="12801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47000" y="13855700"/>
            <a:ext cx="164719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1~5번: 이름, 이메일, 비밀번호 등 회원가입 필수 정보 입력 및 약관 동의 영역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6번: 모든 필수 정보 입력 후 클릭하여 회원가입 절차를 완료함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7번: 이미 계정이 있는 사용자를 위해 '로그인 화면'으로 돌아가는 링크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비고: 당초 기획했던 ID(이메일) 중복 여부 확인 기능이 현재 UI 구현에서 누락됨 (추후 보완 필요)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53200" y="4096204"/>
            <a:ext cx="368300" cy="622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3200" y="5556250"/>
            <a:ext cx="4572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3200" y="6978650"/>
            <a:ext cx="508000" cy="584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421734">
            <a:off x="19269931" y="8060693"/>
            <a:ext cx="571500" cy="660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53200" y="9036050"/>
            <a:ext cx="584200" cy="673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04000" y="10134601"/>
            <a:ext cx="533400" cy="622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53200" y="1231900"/>
            <a:ext cx="546100" cy="635000"/>
          </a:xfrm>
          <a:prstGeom prst="rect">
            <a:avLst/>
          </a:prstGeom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45FB10C8-C0F4-4D61-929F-6BA7E853271C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62C4E16-0DD1-4671-92D5-DF20E527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-12700"/>
            <a:ext cx="20421600" cy="11188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1176000"/>
            <a:ext cx="20421600" cy="571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홈화면_01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메인 홈 화면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웹페이지에 처음 들어왔을 때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보이는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81900" y="117602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81900" y="12827000"/>
            <a:ext cx="188976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지금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진단하기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('홈화면_02'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슬라이드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참조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전환됨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페이지로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바로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이동함</a:t>
            </a:r>
            <a:b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3~4번: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좌측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로고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'홈'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탭으로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홈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돌아옴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새로고침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화살표 는 하단을 내리면 나오는 화면이다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선택시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번과 같은 버튼이다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4400" y="5367564"/>
            <a:ext cx="381000" cy="647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500" y="5245100"/>
            <a:ext cx="546100" cy="673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0" y="539750"/>
            <a:ext cx="533400" cy="622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0200" y="495300"/>
            <a:ext cx="609600" cy="7112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1CE12B5-28EF-4556-8EC8-0D68055F50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11667" y="4395185"/>
            <a:ext cx="5240933" cy="3478738"/>
          </a:xfrm>
          <a:prstGeom prst="rect">
            <a:avLst/>
          </a:prstGeom>
        </p:spPr>
      </p:pic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709F33A-1274-40DF-B32B-D9D758179D59}"/>
              </a:ext>
            </a:extLst>
          </p:cNvPr>
          <p:cNvSpPr/>
          <p:nvPr/>
        </p:nvSpPr>
        <p:spPr>
          <a:xfrm rot="18199433">
            <a:off x="21757444" y="9131696"/>
            <a:ext cx="3504852" cy="83185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Picture 22">
            <a:extLst>
              <a:ext uri="{FF2B5EF4-FFF2-40B4-BE49-F238E27FC236}">
                <a16:creationId xmlns:a16="http://schemas.microsoft.com/office/drawing/2014/main" id="{5BEE99C5-EF47-417C-A215-592BEDD1EF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71200" y="7108863"/>
            <a:ext cx="442330" cy="511137"/>
          </a:xfrm>
          <a:prstGeom prst="rect">
            <a:avLst/>
          </a:prstGeom>
        </p:spPr>
      </p:pic>
      <p:sp>
        <p:nvSpPr>
          <p:cNvPr id="28" name="TextBox 7">
            <a:extLst>
              <a:ext uri="{FF2B5EF4-FFF2-40B4-BE49-F238E27FC236}">
                <a16:creationId xmlns:a16="http://schemas.microsoft.com/office/drawing/2014/main" id="{34364E3E-CC00-4D8C-821A-04F9400A3C8F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DAUL_600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12700"/>
            <a:ext cx="20421600" cy="12319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리스크 진단 화면_01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2300" y="107442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900" y="116840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로그인/홈/전략 진단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/원하는 산업군 선택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카테고리 탭에서 원하는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카테고리를 눌렀을 때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등장하는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47000" y="12801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47000" y="13855700"/>
            <a:ext cx="195580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메뉴의 '전략 진단' 탭으로, 클릭 시 현재의 리스크 진단 단계 화면으로 진입함.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분석 정확도를 높이기 위해 사용자가 속한 산업군 카테고리(예: 미디어/엔터테인먼트)를 선택하는 영역.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산업군 선택을 완료한 후 '다음' 버튼을 클릭하여, 다음 진단 단계(2/3단계)로 이동함.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660400"/>
            <a:ext cx="520700" cy="66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2900" y="7289800"/>
            <a:ext cx="533400" cy="673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00" y="9334500"/>
            <a:ext cx="622300" cy="7112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5722722-F93D-4E90-8BAD-A848A0201B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3075" y="2159000"/>
            <a:ext cx="5114925" cy="4114800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0CF450D3-7D7F-4D19-9CC7-4DD0625A5256}"/>
              </a:ext>
            </a:extLst>
          </p:cNvPr>
          <p:cNvSpPr/>
          <p:nvPr/>
        </p:nvSpPr>
        <p:spPr>
          <a:xfrm>
            <a:off x="20675600" y="2882900"/>
            <a:ext cx="1387475" cy="3175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18DFB7BB-F175-41C6-89FC-BD46C927F076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DAUL_600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0"/>
            <a:ext cx="20421600" cy="1234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진단_02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5905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리스크 진단 화면_02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6057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로그인/홈/전략 진단
/산업군 선택/유형 전략선택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최근 인기 키워드 분석 순위를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직관적으로 제시하는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08900" y="131445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08900" y="14173200"/>
            <a:ext cx="195961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사용자가 평가하고자 하는 가장 가까운 전략 유형(예: 디지털 전환)을 한 가지 선택하는 영역.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전략 유형 선택을 완료한 후 '다음' 버튼을 클릭하여 다음 진단 단계(3/3단계)로 이동함.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선택을 수정하거나 이전 과정으로 돌아가고 싶을 경우, '이전' 텍스트를 클릭하여 이전 단계(산업군 선택 화면)로 되돌아감.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8600" y="5397500"/>
            <a:ext cx="520700" cy="66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5600" y="10236200"/>
            <a:ext cx="4445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41300" y="10515600"/>
            <a:ext cx="419100" cy="482600"/>
          </a:xfrm>
          <a:prstGeom prst="rect">
            <a:avLst/>
          </a:prstGeom>
        </p:spPr>
      </p:pic>
      <p:sp>
        <p:nvSpPr>
          <p:cNvPr id="21" name="TextBox 7">
            <a:extLst>
              <a:ext uri="{FF2B5EF4-FFF2-40B4-BE49-F238E27FC236}">
                <a16:creationId xmlns:a16="http://schemas.microsoft.com/office/drawing/2014/main" id="{541347F6-B6F7-4560-8D4E-6F45D823E9E3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DAUL_600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0"/>
            <a:ext cx="20421600" cy="1235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진단_03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5905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리스크 진단 화면_03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60579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로그인/홈/전략 진단
/산업군 선택/유형 전략선택/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리스크 진단 시작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트렌드 키워드와 관련된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데이터 리포트를 제시하는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08900" y="131445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08900" y="14173200"/>
            <a:ext cx="16611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이전 단계에서 선택한 '산업군' 및 '전략 유형' 정보가 맞는지 최종적으로 확인하는 영역.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평가받고자 하는 구체적인 전략 내용을 사용자가 직접 텍스트로 기입하는 입력 필드.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전략 내용 작성을 완료한 후 클릭하여 본격적인 AI 리스크 진단 분석을 시작하는 버튼.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4번: 입력 내용을 수정하거나 이전 단계(전략 유형 선택 화면)로 되돌아가고 싶을 때 클릭하는 링크.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9900" y="4635500"/>
            <a:ext cx="457200" cy="762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9600" y="7277100"/>
            <a:ext cx="622300" cy="787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51800" y="9486900"/>
            <a:ext cx="685800" cy="787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4800" y="9779000"/>
            <a:ext cx="431800" cy="495300"/>
          </a:xfrm>
          <a:prstGeom prst="rect">
            <a:avLst/>
          </a:prstGeom>
        </p:spPr>
      </p:pic>
      <p:sp>
        <p:nvSpPr>
          <p:cNvPr id="22" name="TextBox 7">
            <a:extLst>
              <a:ext uri="{FF2B5EF4-FFF2-40B4-BE49-F238E27FC236}">
                <a16:creationId xmlns:a16="http://schemas.microsoft.com/office/drawing/2014/main" id="{A3FF5383-390B-4EE9-BBEA-9C11A2E5A0EA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DAUL_600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E341D20C-EB05-4A4A-A45D-11F707AE7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907"/>
            <a:ext cx="20434300" cy="1150963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1455400"/>
            <a:ext cx="20421600" cy="5435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 인사이트_01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원하는 콘텐츠를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올릴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9500" y="118237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29500" y="12779829"/>
            <a:ext cx="18973800" cy="295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메뉴의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탭으로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진입함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아티클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클러스터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등)의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건수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요약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현황을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확인하는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새로고침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아이콘으로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내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최신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업데이트함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1900" y="152400"/>
            <a:ext cx="355600" cy="584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900" y="1729921"/>
            <a:ext cx="457200" cy="571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76000" y="931636"/>
            <a:ext cx="4445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6143" y="3829050"/>
            <a:ext cx="431800" cy="495300"/>
          </a:xfrm>
          <a:prstGeom prst="rect">
            <a:avLst/>
          </a:prstGeom>
        </p:spPr>
      </p:pic>
      <p:sp>
        <p:nvSpPr>
          <p:cNvPr id="22" name="TextBox 7">
            <a:extLst>
              <a:ext uri="{FF2B5EF4-FFF2-40B4-BE49-F238E27FC236}">
                <a16:creationId xmlns:a16="http://schemas.microsoft.com/office/drawing/2014/main" id="{80E97FB9-27CA-4D09-B1A0-67B9EDB56D95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DAUL_300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033EA674-0150-4A4B-86A5-60DB16E42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0"/>
            <a:ext cx="20434300" cy="1174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-1270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1747500"/>
            <a:ext cx="20421600" cy="514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259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인사이트_02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8077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7475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자동으로 올라오는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최신 콘텐츠 목록을 확인할 수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97800" y="11912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  <a:endParaRPr lang="en-US" sz="4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353300" y="12712700"/>
            <a:ext cx="19812000" cy="355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(인사이트_01)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하단으로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스크롤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나타나는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리스트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원하는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키워드를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직접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찾을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검색창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탭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모두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포함한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리스트업함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탭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사례'만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필터링하여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노출함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탭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사례'만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필터링하여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노출함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조회된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항목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특정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항목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페이지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슬라이드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참조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번: '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클러스터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분포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영역으로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각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주제별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카테고리별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분포도를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한눈에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파악할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있음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200" y="1673679"/>
            <a:ext cx="330200" cy="558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4175" y="7863114"/>
            <a:ext cx="558800" cy="698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1300" y="7861300"/>
            <a:ext cx="508000" cy="584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79736" y="7825921"/>
            <a:ext cx="584200" cy="673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81436" y="7823200"/>
            <a:ext cx="571500" cy="660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9700" y="8896350"/>
            <a:ext cx="762000" cy="876300"/>
          </a:xfrm>
          <a:prstGeom prst="rect">
            <a:avLst/>
          </a:prstGeom>
        </p:spPr>
      </p:pic>
      <p:pic>
        <p:nvPicPr>
          <p:cNvPr id="26" name="Picture 24">
            <a:extLst>
              <a:ext uri="{FF2B5EF4-FFF2-40B4-BE49-F238E27FC236}">
                <a16:creationId xmlns:a16="http://schemas.microsoft.com/office/drawing/2014/main" id="{1E03AA96-E659-4244-9335-2E96470222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9925" y="2190750"/>
            <a:ext cx="546100" cy="635000"/>
          </a:xfrm>
          <a:prstGeom prst="rect">
            <a:avLst/>
          </a:prstGeom>
        </p:spPr>
      </p:pic>
      <p:sp>
        <p:nvSpPr>
          <p:cNvPr id="27" name="TextBox 7">
            <a:extLst>
              <a:ext uri="{FF2B5EF4-FFF2-40B4-BE49-F238E27FC236}">
                <a16:creationId xmlns:a16="http://schemas.microsoft.com/office/drawing/2014/main" id="{F89CBF40-6C8F-4DA5-B8D7-5A580783E71B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DAUL_400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0"/>
            <a:ext cx="20421600" cy="1024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 인사이트_03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로그인/홈/인사이트/원하는 인사이트 클릭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1391900"/>
            <a:ext cx="19024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화면에서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항목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진입하는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페이지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카테고리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등)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분석한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요약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시각화하여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보여주는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역량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막대그래프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),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밸런스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방사형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 및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라벨링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신뢰도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지표를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직관적으로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확인할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 사례 시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딥네이비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색 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 사례 시 웜 골드 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&lt;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참고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&gt;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번을 보면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라벨링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신뢰도를 확인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할수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있다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2700" y="139700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1260" y="2956026"/>
            <a:ext cx="579120" cy="7239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FBB8AB5-DA55-423B-9F2C-4B68EA91AF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34088" y="777773"/>
            <a:ext cx="3413464" cy="217825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5F6A04-7BC6-48C5-9302-109592944721}"/>
              </a:ext>
            </a:extLst>
          </p:cNvPr>
          <p:cNvSpPr txBox="1"/>
          <p:nvPr/>
        </p:nvSpPr>
        <p:spPr>
          <a:xfrm>
            <a:off x="25959048" y="805934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실패 사례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0AC7A815-2131-4A17-8424-2B4728EB1DF8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DAUL_500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956C178-5743-4029-9922-79898D025C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6042" y="9064171"/>
            <a:ext cx="17759860" cy="1304925"/>
          </a:xfrm>
          <a:prstGeom prst="rect">
            <a:avLst/>
          </a:prstGeom>
        </p:spPr>
      </p:pic>
      <p:pic>
        <p:nvPicPr>
          <p:cNvPr id="25" name="Picture 20">
            <a:extLst>
              <a:ext uri="{FF2B5EF4-FFF2-40B4-BE49-F238E27FC236}">
                <a16:creationId xmlns:a16="http://schemas.microsoft.com/office/drawing/2014/main" id="{D41DE326-1FFE-40BB-BC8F-FBA4B6680B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8679543"/>
            <a:ext cx="482600" cy="5540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47E53A0-1E5D-4EF2-9DA1-0ED040AB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557" y="54844"/>
            <a:ext cx="20421600" cy="1019405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인사이트_04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로그인/홈/인사이트/원하는 인사이트 클릭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1391900"/>
            <a:ext cx="19024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을 통해서 리스트에서 특정 사례의 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‘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비교선택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‘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버튼을 눌러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개의 사례를 지정할 수 있다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을 통해 선택 취소를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할수있고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4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번을 눌러서 비교 분석 보기를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할수있다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번도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번과 같은 기능이다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클릭시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비교된 화면이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나오게된다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두사례의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 전략 지표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시장 타이밍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실행력 등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 하나의 차트 위에 중첩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렌더링되어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강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약점을 직관적으로 대조할 수 있음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9322" y="4154714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3442" y="6442075"/>
            <a:ext cx="670560" cy="838200"/>
          </a:xfrm>
          <a:prstGeom prst="rect">
            <a:avLst/>
          </a:prstGeom>
        </p:spPr>
      </p:pic>
      <p:pic>
        <p:nvPicPr>
          <p:cNvPr id="22" name="Picture 20">
            <a:extLst>
              <a:ext uri="{FF2B5EF4-FFF2-40B4-BE49-F238E27FC236}">
                <a16:creationId xmlns:a16="http://schemas.microsoft.com/office/drawing/2014/main" id="{A5BFBDDD-22AA-43B0-80EF-BA9327402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04800" y="8953500"/>
            <a:ext cx="419100" cy="482600"/>
          </a:xfrm>
          <a:prstGeom prst="rect">
            <a:avLst/>
          </a:prstGeom>
        </p:spPr>
      </p:pic>
      <p:pic>
        <p:nvPicPr>
          <p:cNvPr id="23" name="Picture 21">
            <a:extLst>
              <a:ext uri="{FF2B5EF4-FFF2-40B4-BE49-F238E27FC236}">
                <a16:creationId xmlns:a16="http://schemas.microsoft.com/office/drawing/2014/main" id="{7A39A8FB-65F0-440B-8F74-DE29E8D96A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14200" y="7823200"/>
            <a:ext cx="584200" cy="673100"/>
          </a:xfrm>
          <a:prstGeom prst="rect">
            <a:avLst/>
          </a:prstGeom>
        </p:spPr>
      </p:pic>
      <p:pic>
        <p:nvPicPr>
          <p:cNvPr id="24" name="Picture 22">
            <a:extLst>
              <a:ext uri="{FF2B5EF4-FFF2-40B4-BE49-F238E27FC236}">
                <a16:creationId xmlns:a16="http://schemas.microsoft.com/office/drawing/2014/main" id="{F5915B3D-FA5F-4571-B7A8-1C912FD42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63800" y="1612900"/>
            <a:ext cx="571500" cy="6604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6F3FC7B-9DB9-4305-BCCF-7F30478D26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65800" y="2791478"/>
            <a:ext cx="8291648" cy="4029783"/>
          </a:xfrm>
          <a:prstGeom prst="rect">
            <a:avLst/>
          </a:prstGeom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1439901C-0B85-4812-A422-959E1426F037}"/>
              </a:ext>
            </a:extLst>
          </p:cNvPr>
          <p:cNvSpPr/>
          <p:nvPr/>
        </p:nvSpPr>
        <p:spPr>
          <a:xfrm rot="13462975" flipV="1">
            <a:off x="23800472" y="6869572"/>
            <a:ext cx="2876550" cy="4573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DA4372F8-6A5A-4E45-8DDF-D3323B231535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DAUL_500</a:t>
            </a:r>
          </a:p>
        </p:txBody>
      </p:sp>
    </p:spTree>
    <p:extLst>
      <p:ext uri="{BB962C8B-B14F-4D97-AF65-F5344CB8AC3E}">
        <p14:creationId xmlns:p14="http://schemas.microsoft.com/office/powerpoint/2010/main" val="83940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0"/>
            <a:ext cx="20320000" cy="1024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진단 이력_01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진단이력_01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541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로그인화면/메인화며/진단 이력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1391900"/>
            <a:ext cx="19024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메뉴의 '진단 이력' 탭으로, 클릭 시 사용자가 과거에 의뢰했던 전략 리스크 진단 기록 목록을 확인할 수 있는 화면으로 진입함.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개별 진단 내역 항목. 진단 일자, 사용자가 입력했던 질의 내용과 함께 AI가 분석한 리스크 평가 결과(예: 리스크 높음)를 요약하여 직관적으로 제공함.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52070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5700" y="1473200"/>
            <a:ext cx="1219200" cy="1524000"/>
          </a:xfrm>
          <a:prstGeom prst="rect">
            <a:avLst/>
          </a:prstGeom>
        </p:spPr>
      </p:pic>
      <p:sp>
        <p:nvSpPr>
          <p:cNvPr id="22" name="TextBox 7">
            <a:extLst>
              <a:ext uri="{FF2B5EF4-FFF2-40B4-BE49-F238E27FC236}">
                <a16:creationId xmlns:a16="http://schemas.microsoft.com/office/drawing/2014/main" id="{7666A0D1-802B-4B05-9F01-FA69D020E1B2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DAUL_1200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1D3E62F7-AF93-4B20-A68B-4DB9CEC6B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59871"/>
            <a:ext cx="20421600" cy="1013634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시맨틱맵_01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시맨틱맵_01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 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4013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42200" y="11366500"/>
            <a:ext cx="19024600" cy="533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시맨틱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맵' 탭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리스크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요약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뷰):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지형도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표시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필터링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필터링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리스크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고위험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중심으로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맵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시점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전환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 클러스터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):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 데이터 군집 분포 확인</a:t>
            </a:r>
            <a:endParaRPr lang="en-US" altLang="ko-KR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&lt;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빨간화살표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&gt;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는 위쪽에 클러스터 리스크 보도를 한눈에 확인 가능하다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0800" y="193221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2043" y="3797300"/>
            <a:ext cx="4445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443" y="5348514"/>
            <a:ext cx="419100" cy="482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61800" y="5270500"/>
            <a:ext cx="431800" cy="495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85700" y="5232400"/>
            <a:ext cx="457200" cy="533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0464" y="5264150"/>
            <a:ext cx="444500" cy="508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59164" y="5294993"/>
            <a:ext cx="495300" cy="5715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D85F961-1589-403A-9B87-1C03E4F69A7B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0555" t="30747" r="20417" b="4174"/>
          <a:stretch/>
        </p:blipFill>
        <p:spPr>
          <a:xfrm>
            <a:off x="19668345" y="5264150"/>
            <a:ext cx="7469741" cy="4074886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43D78D52-BDE7-4248-8995-306288727B80}"/>
              </a:ext>
            </a:extLst>
          </p:cNvPr>
          <p:cNvSpPr/>
          <p:nvPr/>
        </p:nvSpPr>
        <p:spPr>
          <a:xfrm rot="3077891">
            <a:off x="17771344" y="2988289"/>
            <a:ext cx="4343400" cy="7942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위쪽  클러스터 리스크 보도 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DAE80EE0-2606-4359-A7AB-850097C0ABE2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AFBF1AC6-C729-4125-940F-F1ED91D92D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37"/>
          <a:stretch/>
        </p:blipFill>
        <p:spPr>
          <a:xfrm>
            <a:off x="6756400" y="-12700"/>
            <a:ext cx="20421600" cy="1021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시맨틱맵_02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시맨틱맵_02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 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4013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42200" y="11366500"/>
            <a:ext cx="19024600" cy="533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</a:t>
            </a: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리스크를 선택하면 그에 맞는 리스크 요약 표 가 한눈에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볼수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있다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위험 영역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TOP 3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위 를 한눈에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볼수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있다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표 사용 설명 내용이 들어있다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4번: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필터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(4~8번)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선택이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반영되어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시각화되는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시맨틱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맵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메인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이다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60771" y="1323068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1200" y="3265714"/>
            <a:ext cx="4445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1071" y="6770007"/>
            <a:ext cx="419100" cy="482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7600" y="6796847"/>
            <a:ext cx="794657" cy="911519"/>
          </a:xfrm>
          <a:prstGeom prst="rect">
            <a:avLst/>
          </a:prstGeom>
        </p:spPr>
      </p:pic>
      <p:sp>
        <p:nvSpPr>
          <p:cNvPr id="22" name="TextBox 7">
            <a:extLst>
              <a:ext uri="{FF2B5EF4-FFF2-40B4-BE49-F238E27FC236}">
                <a16:creationId xmlns:a16="http://schemas.microsoft.com/office/drawing/2014/main" id="{DF980AF5-22EE-4C45-BAB5-44A37CCED4A4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DAUL_1100</a:t>
            </a:r>
          </a:p>
        </p:txBody>
      </p:sp>
    </p:spTree>
    <p:extLst>
      <p:ext uri="{BB962C8B-B14F-4D97-AF65-F5344CB8AC3E}">
        <p14:creationId xmlns:p14="http://schemas.microsoft.com/office/powerpoint/2010/main" val="166681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0"/>
            <a:ext cx="20421600" cy="1024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구독서비스_01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 화면_01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1391900"/>
            <a:ext cx="19024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진입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이되게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된다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베이직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무료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＇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시작하기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＇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홈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하게된다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프리미엄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＇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구독하기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＇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창으로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장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참조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4~5번: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좌측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로고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(4번) 및 ＇홈＇ 탭(5번) 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홈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하게 된다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영업팀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문의시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빨간 화살표 를 가리키고 있는 화면이 나오게 된다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5900" y="27940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2400" y="5994400"/>
            <a:ext cx="4445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0400" y="6070600"/>
            <a:ext cx="419100" cy="482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533400"/>
            <a:ext cx="431800" cy="495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0700" y="508000"/>
            <a:ext cx="457200" cy="5334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E58DC8F-C62D-4FE1-AD4C-DAB00D83C1E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83"/>
          <a:stretch/>
        </p:blipFill>
        <p:spPr>
          <a:xfrm>
            <a:off x="22341412" y="1117600"/>
            <a:ext cx="4567775" cy="2895600"/>
          </a:xfrm>
          <a:prstGeom prst="rect">
            <a:avLst/>
          </a:prstGeom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2343B6E-DD38-4D1B-A590-22D25BC0733F}"/>
              </a:ext>
            </a:extLst>
          </p:cNvPr>
          <p:cNvSpPr/>
          <p:nvPr/>
        </p:nvSpPr>
        <p:spPr>
          <a:xfrm rot="18137412">
            <a:off x="23414016" y="4821919"/>
            <a:ext cx="2583516" cy="67945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Picture 23">
            <a:extLst>
              <a:ext uri="{FF2B5EF4-FFF2-40B4-BE49-F238E27FC236}">
                <a16:creationId xmlns:a16="http://schemas.microsoft.com/office/drawing/2014/main" id="{3C376162-38B8-4960-B753-789AD7F0C7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41412" y="990600"/>
            <a:ext cx="533400" cy="622300"/>
          </a:xfrm>
          <a:prstGeom prst="rect">
            <a:avLst/>
          </a:prstGeom>
        </p:spPr>
      </p:pic>
      <p:sp>
        <p:nvSpPr>
          <p:cNvPr id="27" name="TextBox 7">
            <a:extLst>
              <a:ext uri="{FF2B5EF4-FFF2-40B4-BE49-F238E27FC236}">
                <a16:creationId xmlns:a16="http://schemas.microsoft.com/office/drawing/2014/main" id="{0103018A-2A75-4D6B-B9FD-DDB511B0E088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DAUL_1300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700" y="406400"/>
            <a:ext cx="11557000" cy="951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구독서비스_02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 화면_02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
구독창/구독하기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0" y="11391900"/>
            <a:ext cx="197866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'결제 진행하기' 버튼으로, 클릭 시 선택한 플랜의 결제를 진행하기 위한 실제 결제 모듈(또는 다음 단계)로 이동함.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'이전으로 돌아가기' 버튼으로, 결제를 취소/보류하거나 이전 화면(구독 플랜 선택 화면)으로 되돌아가고 싶을 때 클릭함.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660400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2400" y="7708900"/>
            <a:ext cx="558800" cy="698500"/>
          </a:xfrm>
          <a:prstGeom prst="rect">
            <a:avLst/>
          </a:prstGeom>
        </p:spPr>
      </p:pic>
      <p:sp>
        <p:nvSpPr>
          <p:cNvPr id="20" name="TextBox 7">
            <a:extLst>
              <a:ext uri="{FF2B5EF4-FFF2-40B4-BE49-F238E27FC236}">
                <a16:creationId xmlns:a16="http://schemas.microsoft.com/office/drawing/2014/main" id="{82322652-7DDC-4747-BB37-7F86ECA2F5D4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DAUL_1300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0" y="0"/>
            <a:ext cx="16179800" cy="1024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7200" y="5130800"/>
            <a:ext cx="10210800" cy="513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프로필 설정_01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프로필 설정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400" y="776605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  <a:endParaRPr lang="en-US" sz="493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
우측 상단 프로필 설정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8000" y="876935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본인의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정보를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수정할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00800" y="186690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28900" y="1752600"/>
            <a:ext cx="393700" cy="482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467600" y="11391900"/>
            <a:ext cx="19786600" cy="295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[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프로필 수정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기본 회원 정보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소속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직무 등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변경 및 저장을 위한 편집 활성화 버튼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[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사진 변경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사용자 아바타 이미지를 디바이스에서 직접 업로드하거나 삭제하는 관리버튼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[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계정 정보 확인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가입 이메일 확인 및 패스워드 재설정 등을 수행하는 보안 관리 패널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4번: </a:t>
            </a: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 현황 조회</a:t>
            </a: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 가입 플랜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베이직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프리미엄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),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이용 횟수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 결제 예정일 정보를 제공하는 구독 정보 화면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5번: [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알림 설정 제어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채널별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이메일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앱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푸시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마케팅 수신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알림 수신 여부를 개별 설정할 수 있는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토글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스위치 영역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4200" y="4368800"/>
            <a:ext cx="419100" cy="482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4200" y="8204200"/>
            <a:ext cx="431800" cy="495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40200" y="5130800"/>
            <a:ext cx="457200" cy="533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293732A-CFED-475C-A802-75E4B30AFD1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77970"/>
          <a:stretch/>
        </p:blipFill>
        <p:spPr>
          <a:xfrm>
            <a:off x="12903200" y="8071184"/>
            <a:ext cx="2667000" cy="2275234"/>
          </a:xfrm>
          <a:prstGeom prst="rect">
            <a:avLst/>
          </a:prstGeom>
        </p:spPr>
      </p:pic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BC9DB8A3-23F4-4D24-8E24-1B5548D1EB92}"/>
              </a:ext>
            </a:extLst>
          </p:cNvPr>
          <p:cNvSpPr/>
          <p:nvPr/>
        </p:nvSpPr>
        <p:spPr>
          <a:xfrm flipH="1">
            <a:off x="11396919" y="8903833"/>
            <a:ext cx="1277681" cy="7227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E4E99BB0-D283-4265-9A1F-7175760B4F4A}"/>
              </a:ext>
            </a:extLst>
          </p:cNvPr>
          <p:cNvSpPr txBox="1"/>
          <p:nvPr/>
        </p:nvSpPr>
        <p:spPr>
          <a:xfrm>
            <a:off x="641858" y="6432550"/>
            <a:ext cx="4940300" cy="1187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DAUL_200,</a:t>
            </a:r>
            <a:r>
              <a:rPr lang="en-US" altLang="ko-KR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DAUL_1400, DAUL_1900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2DEA1993-D341-43E6-AEEE-1A09BDB38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557" y="0"/>
            <a:ext cx="20452443" cy="1031842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10274300"/>
            <a:ext cx="204470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다크모드_01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다크모드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로그인화면/홈/다크모드</a:t>
            </a:r>
          </a:p>
          <a:p>
            <a:pPr lvl="0" algn="l">
              <a:lnSpc>
                <a:spcPct val="116199"/>
              </a:lnSpc>
            </a:pPr>
            <a:endParaRPr lang="en-US" sz="3333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1391900"/>
            <a:ext cx="19024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우측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상단의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테마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아이콘으로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플랫폼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어두운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배경의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모드'로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변경하여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사용할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있음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적용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상태에서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아이콘을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클릭할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경우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원래의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밝은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배경인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라이트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모드'로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하게 된다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하나의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아이콘으로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전환되는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토글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방식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5571" y="41910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7457" y="381000"/>
            <a:ext cx="431800" cy="546100"/>
          </a:xfrm>
          <a:prstGeom prst="rect">
            <a:avLst/>
          </a:prstGeom>
        </p:spPr>
      </p:pic>
      <p:sp>
        <p:nvSpPr>
          <p:cNvPr id="20" name="TextBox 7">
            <a:extLst>
              <a:ext uri="{FF2B5EF4-FFF2-40B4-BE49-F238E27FC236}">
                <a16:creationId xmlns:a16="http://schemas.microsoft.com/office/drawing/2014/main" id="{158C09D3-0352-4C57-BE4A-35ADF98B8DA7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해당 없음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1D7BFD8F-2ED4-445D-8328-78BDCA62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19"/>
          <a:stretch/>
        </p:blipFill>
        <p:spPr>
          <a:xfrm>
            <a:off x="18678071" y="0"/>
            <a:ext cx="8499929" cy="1027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6400" cy="1689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10274300"/>
            <a:ext cx="20447000" cy="664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25500" y="990600"/>
            <a:ext cx="2019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0" y="19431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ko-KR" altLang="en-US" sz="3333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어시스턴스</a:t>
            </a:r>
            <a:r>
              <a:rPr lang="en-US" altLang="ko-KR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_01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98500" y="3200400"/>
            <a:ext cx="25019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40132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ko-KR" alt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창</a:t>
            </a: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400" y="5397500"/>
            <a:ext cx="4876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</a:t>
            </a:r>
            <a:r>
              <a:rPr lang="en-US" sz="49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93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유스케이스</a:t>
            </a:r>
            <a:r>
              <a:rPr lang="en-US" sz="493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00" y="14173200"/>
            <a:ext cx="18161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400" y="105156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7620000"/>
            <a:ext cx="23495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00" y="11455400"/>
            <a:ext cx="4940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r>
              <a:rPr lang="en-US" altLang="ko-KR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우측 하단 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96900" y="8445500"/>
            <a:ext cx="5549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ko-KR" altLang="en-US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를 통해 전략 리스크나 질문을 검색 가능하다</a:t>
            </a:r>
            <a:r>
              <a:rPr lang="en-US" altLang="ko-KR" sz="3333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98500" y="1511300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8400" y="10515600"/>
            <a:ext cx="23622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8400" y="11391900"/>
            <a:ext cx="190246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 : [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채팅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입력창</a:t>
            </a:r>
            <a:r>
              <a:rPr lang="en-US" altLang="ko-KR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리스크 분석 및 경영 전략 관련 질문을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자유롭게 입력하는 필드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[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닫기 버튼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3333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챗봇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대화방을 종료하고 이전 작업 화면으로 돌아가는 버튼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[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대화 히스토리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] </a:t>
            </a:r>
            <a:r>
              <a:rPr lang="ko-KR" altLang="en-US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과거에 나눈 대화 내역을 조회하고 끊김 없이 답변을 이어가는 내비게이션 영역</a:t>
            </a:r>
            <a:r>
              <a:rPr lang="en-US" altLang="ko-KR" sz="3333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333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9000" y="9010650"/>
            <a:ext cx="279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27100" y="109764"/>
            <a:ext cx="431800" cy="5461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DDEB464-4B60-4D37-ACF7-F5E7036AE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1" y="1"/>
            <a:ext cx="11947070" cy="6388615"/>
          </a:xfrm>
          <a:prstGeom prst="rect">
            <a:avLst/>
          </a:prstGeom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9327663-D6F0-4FBB-9C91-84C6C9F51402}"/>
              </a:ext>
            </a:extLst>
          </p:cNvPr>
          <p:cNvSpPr/>
          <p:nvPr/>
        </p:nvSpPr>
        <p:spPr>
          <a:xfrm>
            <a:off x="18703471" y="5839279"/>
            <a:ext cx="1905000" cy="533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클릭시</a:t>
            </a:r>
            <a:endParaRPr lang="ko-KR" altLang="en-US" dirty="0"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8A93B40C-68A6-4F0A-B9A6-890CF82F8C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32270" y="103414"/>
            <a:ext cx="419100" cy="482600"/>
          </a:xfrm>
          <a:prstGeom prst="rect">
            <a:avLst/>
          </a:prstGeo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4EFB7495-2636-4BD3-A400-8C401B1391DA}"/>
              </a:ext>
            </a:extLst>
          </p:cNvPr>
          <p:cNvSpPr txBox="1"/>
          <p:nvPr/>
        </p:nvSpPr>
        <p:spPr>
          <a:xfrm>
            <a:off x="641858" y="6432550"/>
            <a:ext cx="4940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333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해당 없음</a:t>
            </a:r>
            <a:endParaRPr lang="en-US" sz="3333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5210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2277</Words>
  <Application>Microsoft Office PowerPoint</Application>
  <PresentationFormat>사용자 지정</PresentationFormat>
  <Paragraphs>356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Pretendard Black</vt:lpstr>
      <vt:lpstr>S-Core Dream 5 Medium</vt:lpstr>
      <vt:lpstr>Pretendard Regular</vt:lpstr>
      <vt:lpstr>Calibri</vt:lpstr>
      <vt:lpstr>Pretendard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smhrd</cp:lastModifiedBy>
  <cp:revision>18</cp:revision>
  <dcterms:created xsi:type="dcterms:W3CDTF">2006-08-16T00:00:00Z</dcterms:created>
  <dcterms:modified xsi:type="dcterms:W3CDTF">2026-06-20T06:37:39Z</dcterms:modified>
</cp:coreProperties>
</file>